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85" r:id="rId7"/>
    <p:sldId id="286" r:id="rId8"/>
    <p:sldId id="287" r:id="rId9"/>
    <p:sldId id="288" r:id="rId10"/>
    <p:sldId id="289" r:id="rId11"/>
    <p:sldId id="290" r:id="rId12"/>
    <p:sldId id="291" r:id="rId13"/>
    <p:sldId id="292" r:id="rId14"/>
    <p:sldId id="293" r:id="rId15"/>
    <p:sldId id="294" r:id="rId16"/>
    <p:sldId id="295" r:id="rId17"/>
    <p:sldId id="320" r:id="rId18"/>
    <p:sldId id="321" r:id="rId19"/>
    <p:sldId id="322"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323" r:id="rId33"/>
    <p:sldId id="274" r:id="rId34"/>
    <p:sldId id="275" r:id="rId35"/>
    <p:sldId id="276" r:id="rId36"/>
    <p:sldId id="277" r:id="rId37"/>
    <p:sldId id="278" r:id="rId38"/>
    <p:sldId id="279" r:id="rId39"/>
    <p:sldId id="280" r:id="rId40"/>
    <p:sldId id="281" r:id="rId41"/>
    <p:sldId id="282" r:id="rId42"/>
    <p:sldId id="324" r:id="rId43"/>
    <p:sldId id="328" r:id="rId44"/>
    <p:sldId id="284" r:id="rId45"/>
    <p:sldId id="325" r:id="rId46"/>
    <p:sldId id="326" r:id="rId47"/>
    <p:sldId id="329" r:id="rId48"/>
    <p:sldId id="330" r:id="rId49"/>
    <p:sldId id="331" r:id="rId50"/>
    <p:sldId id="332" r:id="rId51"/>
    <p:sldId id="333" r:id="rId52"/>
    <p:sldId id="334" r:id="rId53"/>
    <p:sldId id="335" r:id="rId54"/>
    <p:sldId id="336" r:id="rId55"/>
    <p:sldId id="337" r:id="rId56"/>
    <p:sldId id="338" r:id="rId57"/>
    <p:sldId id="340" r:id="rId5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varScale="1">
        <p:scale>
          <a:sx n="120" d="100"/>
          <a:sy n="120" d="100"/>
        </p:scale>
        <p:origin x="114"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65"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F3935508-0C7A-4753-A411-3D7272AAF734}" type="datetimeFigureOut">
              <a:rPr lang="pt-BR" smtClean="0"/>
              <a:t>04/12/2020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pt-BR"/>
              <a:t>Clique para editar o título Mestre</a:t>
            </a:r>
          </a:p>
        </p:txBody>
      </p:sp>
      <p:sp>
        <p:nvSpPr>
          <p:cNvPr id="3" name="Espaço Reservado para Conteúdo 2"/>
          <p:cNvSpPr>
            <a:spLocks noGrp="1"/>
          </p:cNvSpPr>
          <p:nvPr>
            <p:ph idx="1" hasCustomPrompt="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3935508-0C7A-4753-A411-3D7272AAF734}" type="datetimeFigureOut">
              <a:rPr lang="pt-BR" smtClean="0"/>
              <a:t>04/12/2020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p:cNvSpPr>
            <a:spLocks noGrp="1"/>
          </p:cNvSpPr>
          <p:nvPr>
            <p:ph type="dt" sz="half" idx="10"/>
          </p:nvPr>
        </p:nvSpPr>
        <p:spPr/>
        <p:txBody>
          <a:bodyPr/>
          <a:lstStyle/>
          <a:p>
            <a:fld id="{F3935508-0C7A-4753-A411-3D7272AAF734}" type="datetimeFigureOut">
              <a:rPr lang="pt-BR" smtClean="0"/>
              <a:t>04/12/2020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pt-BR"/>
              <a:t>Clique para editar o título Mestre</a:t>
            </a:r>
          </a:p>
        </p:txBody>
      </p:sp>
      <p:sp>
        <p:nvSpPr>
          <p:cNvPr id="3" name="Espaço Reservado para Conteúdo 2"/>
          <p:cNvSpPr>
            <a:spLocks noGrp="1"/>
          </p:cNvSpPr>
          <p:nvPr>
            <p:ph sz="half" idx="1" hasCustomPrompt="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hasCustomPrompt="1"/>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F3935508-0C7A-4753-A411-3D7272AAF734}" type="datetimeFigureOut">
              <a:rPr lang="pt-BR" smtClean="0"/>
              <a:t>04/12/2020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p:cNvSpPr>
            <a:spLocks noGrp="1"/>
          </p:cNvSpPr>
          <p:nvPr>
            <p:ph sz="half" idx="2" hasCustomPrompt="1"/>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p:cNvSpPr>
            <a:spLocks noGrp="1"/>
          </p:cNvSpPr>
          <p:nvPr>
            <p:ph sz="quarter" idx="4" hasCustomPrompt="1"/>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F3935508-0C7A-4753-A411-3D7272AAF734}" type="datetimeFigureOut">
              <a:rPr lang="pt-BR" smtClean="0"/>
              <a:t>04/12/2020</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F3935508-0C7A-4753-A411-3D7272AAF734}" type="datetimeFigureOut">
              <a:rPr lang="pt-BR" smtClean="0"/>
              <a:t>04/12/2020</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3935508-0C7A-4753-A411-3D7272AAF734}" type="datetimeFigureOut">
              <a:rPr lang="pt-BR" smtClean="0"/>
              <a:t>04/12/2020</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p:cNvSpPr>
            <a:spLocks noGrp="1"/>
          </p:cNvSpPr>
          <p:nvPr>
            <p:ph type="dt" sz="half" idx="10"/>
          </p:nvPr>
        </p:nvSpPr>
        <p:spPr/>
        <p:txBody>
          <a:bodyPr/>
          <a:lstStyle/>
          <a:p>
            <a:fld id="{F3935508-0C7A-4753-A411-3D7272AAF734}" type="datetimeFigureOut">
              <a:rPr lang="pt-BR" smtClean="0"/>
              <a:t>04/12/2020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p:cNvSpPr>
            <a:spLocks noGrp="1"/>
          </p:cNvSpPr>
          <p:nvPr>
            <p:ph type="dt" sz="half" idx="10"/>
          </p:nvPr>
        </p:nvSpPr>
        <p:spPr/>
        <p:txBody>
          <a:bodyPr/>
          <a:lstStyle/>
          <a:p>
            <a:fld id="{F3935508-0C7A-4753-A411-3D7272AAF734}" type="datetimeFigureOut">
              <a:rPr lang="pt-BR" smtClean="0"/>
              <a:t>04/12/2020</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lstStyle/>
          <a:p>
            <a:r>
              <a:rPr lang="pt-BR"/>
              <a:t>Clique para editar o título Mestre</a:t>
            </a:r>
          </a:p>
        </p:txBody>
      </p:sp>
      <p:sp>
        <p:nvSpPr>
          <p:cNvPr id="3" name="Espaço Reservado para Texto Vertical 2"/>
          <p:cNvSpPr>
            <a:spLocks noGrp="1"/>
          </p:cNvSpPr>
          <p:nvPr>
            <p:ph type="body" orient="vert" idx="1" hasCustomPrompt="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3935508-0C7A-4753-A411-3D7272AAF734}" type="datetimeFigureOut">
              <a:rPr lang="pt-BR" smtClean="0"/>
              <a:t>04/12/2020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hasCustomPrompt="1"/>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hasCustomPrompt="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F3935508-0C7A-4753-A411-3D7272AAF734}" type="datetimeFigureOut">
              <a:rPr lang="pt-BR" smtClean="0"/>
              <a:t>04/12/2020</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54A64FF-6D61-4A8D-9440-6E8788F2B30D}" type="slidenum">
              <a:rPr lang="pt-BR" smtClean="0"/>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35508-0C7A-4753-A411-3D7272AAF734}" type="datetimeFigureOut">
              <a:rPr lang="pt-BR" smtClean="0"/>
              <a:t>04/12/2020</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4A64FF-6D61-4A8D-9440-6E8788F2B30D}" type="slidenum">
              <a:rPr lang="pt-BR" smtClean="0"/>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raw.githubusercontent.com/joyent/node/v0.12.0/LICENSE"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localhost:8081/"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hyperlink" Target="http://localhost:3000/"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36181" y="2296903"/>
            <a:ext cx="5462546" cy="2307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4559425" cy="3979585"/>
          </a:xfrm>
        </p:spPr>
        <p:txBody>
          <a:bodyPr anchor="ctr">
            <a:normAutofit/>
          </a:bodyPr>
          <a:lstStyle/>
          <a:p>
            <a:pPr>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altLang="pt-BR" sz="1800" b="1" i="0" u="none" strike="noStrike" dirty="0" err="1">
                <a:effectLst/>
                <a:latin typeface="Ubuntu Thin" panose="020B0304030602030204" charset="0"/>
                <a:cs typeface="Ubuntu Thin" panose="020B0304030602030204" charset="0"/>
              </a:rPr>
              <a:t>Introdução</a:t>
            </a:r>
            <a:endParaRPr lang="pt-BR" sz="1800" b="1" i="0" u="none" strike="noStrike" dirty="0">
              <a:effectLst/>
              <a:latin typeface="Ubuntu Thin" panose="020B0304030602030204" charset="0"/>
              <a:cs typeface="Ubuntu Thin" panose="020B0304030602030204" charset="0"/>
            </a:endParaRPr>
          </a:p>
          <a:p>
            <a:pPr marL="0" indent="0" algn="just">
              <a:lnSpc>
                <a:spcPct val="150000"/>
              </a:lnSpc>
              <a:buNone/>
            </a:pPr>
            <a:r>
              <a:rPr lang="pt-BR" sz="1600" b="0" i="0" dirty="0">
                <a:solidFill>
                  <a:srgbClr val="000000"/>
                </a:solidFill>
                <a:effectLst/>
                <a:latin typeface="Ubuntu Thin" panose="020B0304030602030204" charset="0"/>
                <a:cs typeface="Ubuntu Thin" panose="020B0304030602030204" charset="0"/>
              </a:rPr>
              <a:t>Node.js é uma plataforma baseada em </a:t>
            </a:r>
            <a:r>
              <a:rPr lang="pt-BR" sz="1600" b="0" i="0" dirty="0" err="1">
                <a:solidFill>
                  <a:srgbClr val="000000"/>
                </a:solidFill>
                <a:effectLst/>
                <a:latin typeface="Ubuntu Thin" panose="020B0304030602030204" charset="0"/>
                <a:cs typeface="Ubuntu Thin" panose="020B0304030602030204" charset="0"/>
              </a:rPr>
              <a:t>JavaScript</a:t>
            </a:r>
            <a:r>
              <a:rPr lang="pt-BR" sz="1600" b="0" i="0" dirty="0">
                <a:solidFill>
                  <a:srgbClr val="000000"/>
                </a:solidFill>
                <a:effectLst/>
                <a:latin typeface="Ubuntu Thin" panose="020B0304030602030204" charset="0"/>
                <a:cs typeface="Ubuntu Thin" panose="020B0304030602030204" charset="0"/>
              </a:rPr>
              <a:t> muito poderosa construída no </a:t>
            </a:r>
            <a:r>
              <a:rPr lang="pt-BR" sz="1600" b="0" i="0" dirty="0" err="1">
                <a:solidFill>
                  <a:srgbClr val="000000"/>
                </a:solidFill>
                <a:effectLst/>
                <a:latin typeface="Ubuntu Thin" panose="020B0304030602030204" charset="0"/>
                <a:cs typeface="Ubuntu Thin" panose="020B0304030602030204" charset="0"/>
              </a:rPr>
              <a:t>JavaScript</a:t>
            </a:r>
            <a:r>
              <a:rPr lang="pt-BR" sz="1600" b="0" i="0" dirty="0">
                <a:solidFill>
                  <a:srgbClr val="000000"/>
                </a:solidFill>
                <a:effectLst/>
                <a:latin typeface="Ubuntu Thin" panose="020B0304030602030204" charset="0"/>
                <a:cs typeface="Ubuntu Thin" panose="020B0304030602030204" charset="0"/>
              </a:rPr>
              <a:t> V8 </a:t>
            </a:r>
            <a:r>
              <a:rPr lang="pt-BR" sz="1600" b="0" i="0" dirty="0" err="1">
                <a:solidFill>
                  <a:srgbClr val="000000"/>
                </a:solidFill>
                <a:effectLst/>
                <a:latin typeface="Ubuntu Thin" panose="020B0304030602030204" charset="0"/>
                <a:cs typeface="Ubuntu Thin" panose="020B0304030602030204" charset="0"/>
              </a:rPr>
              <a:t>Engine</a:t>
            </a:r>
            <a:r>
              <a:rPr lang="pt-BR" sz="1600" b="0" i="0" dirty="0">
                <a:solidFill>
                  <a:srgbClr val="000000"/>
                </a:solidFill>
                <a:effectLst/>
                <a:latin typeface="Ubuntu Thin" panose="020B0304030602030204" charset="0"/>
                <a:cs typeface="Ubuntu Thin" panose="020B0304030602030204" charset="0"/>
              </a:rPr>
              <a:t> do Google Chrome. É usado para desenvolver aplicativos da web com E / S intensiva, como sites de streaming de vídeo, aplicativos de página única e outros aplicativos da web. O Node.js é um software livre, totalmente gratuito e usado por milhares de desenvolvedores em todo o mundo.</a:t>
            </a:r>
            <a:endParaRPr lang="pt-BR" sz="1600" b="0" i="0" dirty="0">
              <a:effectLst/>
              <a:latin typeface="Ubuntu Thin" panose="020B0304030602030204" charset="0"/>
              <a:cs typeface="Ubuntu Thin" panose="020B0304030602030204" charset="0"/>
            </a:endParaRPr>
          </a:p>
        </p:txBody>
      </p:sp>
      <p:sp>
        <p:nvSpPr>
          <p:cNvPr id="13" name="Espaço Reservado para Conteúdo 2"/>
          <p:cNvSpPr txBox="1"/>
          <p:nvPr/>
        </p:nvSpPr>
        <p:spPr>
          <a:xfrm>
            <a:off x="6041006" y="856180"/>
            <a:ext cx="4559425" cy="397958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r>
              <a:rPr lang="pt-BR" sz="1800" b="1" dirty="0">
                <a:latin typeface="Ubuntu Thin" panose="020B0304030602030204" charset="0"/>
                <a:cs typeface="Ubuntu Thin" panose="020B0304030602030204" charset="0"/>
              </a:rPr>
              <a:t>O que devo saber antes de começar?</a:t>
            </a:r>
          </a:p>
          <a:p>
            <a:pPr marL="0" indent="0" algn="just">
              <a:lnSpc>
                <a:spcPct val="150000"/>
              </a:lnSpc>
              <a:buNone/>
            </a:pPr>
            <a:r>
              <a:rPr lang="pt-BR" sz="1600" b="0" i="0" dirty="0">
                <a:solidFill>
                  <a:srgbClr val="000000"/>
                </a:solidFill>
                <a:effectLst/>
                <a:latin typeface="Ubuntu Thin" panose="020B0304030602030204" charset="0"/>
                <a:cs typeface="Ubuntu Thin" panose="020B0304030602030204" charset="0"/>
              </a:rPr>
              <a:t>Antes de prosseguir, você deve ter um conhecimento básico de </a:t>
            </a:r>
            <a:r>
              <a:rPr lang="pt-BR" sz="1600" b="0" i="0" dirty="0" err="1">
                <a:solidFill>
                  <a:srgbClr val="000000"/>
                </a:solidFill>
                <a:effectLst/>
                <a:latin typeface="Ubuntu Thin" panose="020B0304030602030204" charset="0"/>
                <a:cs typeface="Ubuntu Thin" panose="020B0304030602030204" charset="0"/>
              </a:rPr>
              <a:t>JavaScript</a:t>
            </a:r>
            <a:r>
              <a:rPr lang="pt-BR" sz="1600" b="0" i="0" dirty="0">
                <a:solidFill>
                  <a:srgbClr val="000000"/>
                </a:solidFill>
                <a:effectLst/>
                <a:latin typeface="Ubuntu Thin" panose="020B0304030602030204" charset="0"/>
                <a:cs typeface="Ubuntu Thin" panose="020B0304030602030204" charset="0"/>
              </a:rPr>
              <a:t>. Como vamos desenvolver aplicativos baseados na web usando Node.js, será bom se você tiver algum conhecimento de outras tecnologias da web, como HTML, CSS, AJAX, etc.</a:t>
            </a:r>
            <a:endParaRPr lang="pt-BR" sz="1600" dirty="0">
              <a:latin typeface="Ubuntu Thin" panose="020B0304030602030204" charset="0"/>
              <a:cs typeface="Ubuntu Thin" panose="020B0304030602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4559425" cy="397958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altLang="pt-BR" sz="1800" b="1" i="0" u="none" strike="noStrike" dirty="0" err="1">
                <a:effectLst/>
                <a:latin typeface="Ubuntu Thin" panose="020B0304030602030204" charset="0"/>
                <a:cs typeface="Ubuntu Thin" panose="020B0304030602030204" charset="0"/>
              </a:rPr>
              <a:t>Introdução</a:t>
            </a:r>
            <a:endParaRPr lang="pt-BR" sz="1800" b="1" i="0" u="none" strike="noStrike" dirty="0">
              <a:effectLst/>
              <a:latin typeface="Ubuntu Thin" panose="020B0304030602030204" charset="0"/>
              <a:cs typeface="Ubuntu Thin" panose="020B0304030602030204" charset="0"/>
            </a:endParaRPr>
          </a:p>
          <a:p>
            <a:pPr algn="just">
              <a:lnSpc>
                <a:spcPct val="150000"/>
              </a:lnSpc>
            </a:pPr>
            <a:r>
              <a:rPr lang="pt-BR" sz="1600" dirty="0">
                <a:solidFill>
                  <a:srgbClr val="000000"/>
                </a:solidFill>
                <a:latin typeface="Ubuntu Thin" panose="020B0304030602030204" charset="0"/>
                <a:cs typeface="Ubuntu Thin" panose="020B0304030602030204" charset="0"/>
              </a:rPr>
              <a:t>Node.js é um ambiente de tempo de execução de plataforma cruzada de código aberto para o desenvolvimento de aplicativos do lado do servidor e de rede. Os aplicativos Node.js são escritos em </a:t>
            </a:r>
            <a:r>
              <a:rPr lang="pt-BR" sz="1600" dirty="0" err="1">
                <a:solidFill>
                  <a:srgbClr val="000000"/>
                </a:solidFill>
                <a:latin typeface="Ubuntu Thin" panose="020B0304030602030204" charset="0"/>
                <a:cs typeface="Ubuntu Thin" panose="020B0304030602030204" charset="0"/>
              </a:rPr>
              <a:t>JavaScript</a:t>
            </a:r>
            <a:r>
              <a:rPr lang="pt-BR" sz="1600" dirty="0">
                <a:solidFill>
                  <a:srgbClr val="000000"/>
                </a:solidFill>
                <a:latin typeface="Ubuntu Thin" panose="020B0304030602030204" charset="0"/>
                <a:cs typeface="Ubuntu Thin" panose="020B0304030602030204" charset="0"/>
              </a:rPr>
              <a:t> e podem ser executados no tempo de execução do Node.js no OS X, Microsoft Windows e Linux.</a:t>
            </a:r>
          </a:p>
        </p:txBody>
      </p:sp>
      <p:sp>
        <p:nvSpPr>
          <p:cNvPr id="13" name="Espaço Reservado para Conteúdo 2"/>
          <p:cNvSpPr txBox="1"/>
          <p:nvPr/>
        </p:nvSpPr>
        <p:spPr>
          <a:xfrm>
            <a:off x="6041006" y="856180"/>
            <a:ext cx="4559425" cy="397958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just">
              <a:lnSpc>
                <a:spcPct val="150000"/>
              </a:lnSpc>
            </a:pPr>
            <a:r>
              <a:rPr lang="pt-BR" sz="1800" dirty="0">
                <a:solidFill>
                  <a:srgbClr val="000000"/>
                </a:solidFill>
                <a:latin typeface="Ubuntu Thin" panose="020B0304030602030204" charset="0"/>
                <a:cs typeface="Ubuntu Thin" panose="020B0304030602030204" charset="0"/>
              </a:rPr>
              <a:t>Node.js também fornece uma rica biblioteca de vários módulos </a:t>
            </a:r>
            <a:r>
              <a:rPr lang="pt-BR" sz="1800" dirty="0" err="1">
                <a:solidFill>
                  <a:srgbClr val="000000"/>
                </a:solidFill>
                <a:latin typeface="Ubuntu Thin" panose="020B0304030602030204" charset="0"/>
                <a:cs typeface="Ubuntu Thin" panose="020B0304030602030204" charset="0"/>
              </a:rPr>
              <a:t>JavaScript</a:t>
            </a:r>
            <a:r>
              <a:rPr lang="pt-BR" sz="1800" dirty="0">
                <a:solidFill>
                  <a:srgbClr val="000000"/>
                </a:solidFill>
                <a:latin typeface="Ubuntu Thin" panose="020B0304030602030204" charset="0"/>
                <a:cs typeface="Ubuntu Thin" panose="020B0304030602030204" charset="0"/>
              </a:rPr>
              <a:t> que simplifica o desenvolvimento de aplicativos da web usando Node.js em grande medida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fontScale="85000"/>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altLang="pt-BR" sz="1800" b="1" i="0" u="none" strike="noStrike" dirty="0" err="1">
                <a:effectLst/>
                <a:latin typeface="Ubuntu Thin" panose="020B0304030602030204" charset="0"/>
                <a:cs typeface="Ubuntu Thin" panose="020B0304030602030204" charset="0"/>
              </a:rPr>
              <a:t>Introdução</a:t>
            </a:r>
            <a:endParaRPr lang="pt-BR" sz="1800" b="1" i="0" u="none" strike="noStrike" dirty="0">
              <a:effectLst/>
              <a:latin typeface="Ubuntu Thin" panose="020B0304030602030204" charset="0"/>
              <a:cs typeface="Ubuntu Thin" panose="020B0304030602030204" charset="0"/>
            </a:endParaRPr>
          </a:p>
          <a:p>
            <a:pPr algn="l"/>
            <a:r>
              <a:rPr lang="pt-BR" sz="1800" b="0" i="0" dirty="0">
                <a:effectLst/>
                <a:latin typeface="Ubuntu Thin" panose="020B0304030602030204" charset="0"/>
                <a:cs typeface="Ubuntu Thin" panose="020B0304030602030204" charset="0"/>
              </a:rPr>
              <a:t>Recursos do Node.js:</a:t>
            </a:r>
          </a:p>
          <a:p>
            <a:pPr algn="just">
              <a:lnSpc>
                <a:spcPct val="150000"/>
              </a:lnSpc>
              <a:buFont typeface="Arial" panose="02080604020202020204" pitchFamily="34" charset="0"/>
              <a:buChar char="•"/>
            </a:pPr>
            <a:r>
              <a:rPr lang="pt-BR" sz="1800" b="1" i="0" dirty="0">
                <a:solidFill>
                  <a:srgbClr val="000000"/>
                </a:solidFill>
                <a:effectLst/>
                <a:latin typeface="Ubuntu Thin" panose="020B0304030602030204" charset="0"/>
                <a:cs typeface="Ubuntu Thin" panose="020B0304030602030204" charset="0"/>
              </a:rPr>
              <a:t>Assíncrono e orientado a eventos</a:t>
            </a:r>
            <a:r>
              <a:rPr lang="pt-BR" sz="1800" b="0" i="0" dirty="0">
                <a:solidFill>
                  <a:srgbClr val="000000"/>
                </a:solidFill>
                <a:effectLst/>
                <a:latin typeface="Ubuntu Thin" panose="020B0304030602030204" charset="0"/>
                <a:cs typeface="Ubuntu Thin" panose="020B0304030602030204" charset="0"/>
              </a:rPr>
              <a:t> - Todas as APIs da biblioteca Node.js são assíncronas, ou seja, sem bloqueio. Basicamente, isso significa que um servidor baseado em Node.js nunca espera que uma API retorne dados. O servidor passa para a próxima API após chamá-la e um mecanismo de notificação de Eventos de Node.js ajuda o servidor a obter uma resposta da chamada de API anterior.</a:t>
            </a:r>
          </a:p>
          <a:p>
            <a:pPr lvl="1"/>
            <a:endParaRPr lang="pt-BR" sz="1400" b="0" i="0" dirty="0">
              <a:effectLst/>
              <a:latin typeface="Ubuntu Thin" panose="020B0304030602030204" charset="0"/>
              <a:cs typeface="Ubuntu Thin" panose="020B0304030602030204" charset="0"/>
            </a:endParaRPr>
          </a:p>
        </p:txBody>
      </p:sp>
      <p:sp>
        <p:nvSpPr>
          <p:cNvPr id="13" name="Espaço Reservado para Conteúdo 2"/>
          <p:cNvSpPr txBox="1"/>
          <p:nvPr/>
        </p:nvSpPr>
        <p:spPr>
          <a:xfrm>
            <a:off x="6041006" y="776986"/>
            <a:ext cx="5485909" cy="5435811"/>
          </a:xfrm>
          <a:prstGeom prst="rect">
            <a:avLst/>
          </a:prstGeom>
        </p:spPr>
        <p:txBody>
          <a:bodyPr vert="horz" lIns="91440" tIns="45720" rIns="91440" bIns="45720" rtlCol="0" anchor="ctr">
            <a:normAutofit fontScale="92500" lnSpcReduction="10000"/>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just">
              <a:lnSpc>
                <a:spcPct val="150000"/>
              </a:lnSpc>
              <a:buFont typeface="Arial" panose="02080604020202020204" pitchFamily="34" charset="0"/>
              <a:buChar char="•"/>
            </a:pPr>
            <a:r>
              <a:rPr lang="pt-BR" sz="1500" b="1" dirty="0">
                <a:solidFill>
                  <a:srgbClr val="000000"/>
                </a:solidFill>
                <a:latin typeface="Ubuntu Thin" panose="020B0304030602030204" charset="0"/>
                <a:cs typeface="Ubuntu Thin" panose="020B0304030602030204" charset="0"/>
              </a:rPr>
              <a:t>Muito rápido </a:t>
            </a:r>
            <a:r>
              <a:rPr lang="pt-BR" sz="1500" dirty="0">
                <a:solidFill>
                  <a:srgbClr val="000000"/>
                </a:solidFill>
                <a:latin typeface="Ubuntu Thin" panose="020B0304030602030204" charset="0"/>
                <a:cs typeface="Ubuntu Thin" panose="020B0304030602030204" charset="0"/>
              </a:rPr>
              <a:t>- Sendo construído no motor V8 </a:t>
            </a:r>
            <a:r>
              <a:rPr lang="pt-BR" sz="1500" dirty="0" err="1">
                <a:solidFill>
                  <a:srgbClr val="000000"/>
                </a:solidFill>
                <a:latin typeface="Ubuntu Thin" panose="020B0304030602030204" charset="0"/>
                <a:cs typeface="Ubuntu Thin" panose="020B0304030602030204" charset="0"/>
              </a:rPr>
              <a:t>JavaScript</a:t>
            </a:r>
            <a:r>
              <a:rPr lang="pt-BR" sz="1500" dirty="0">
                <a:solidFill>
                  <a:srgbClr val="000000"/>
                </a:solidFill>
                <a:latin typeface="Ubuntu Thin" panose="020B0304030602030204" charset="0"/>
                <a:cs typeface="Ubuntu Thin" panose="020B0304030602030204" charset="0"/>
              </a:rPr>
              <a:t> do Google Chrome, a biblioteca Node.js é muito rápida na execução de código.</a:t>
            </a:r>
          </a:p>
          <a:p>
            <a:pPr algn="just">
              <a:lnSpc>
                <a:spcPct val="150000"/>
              </a:lnSpc>
              <a:buFont typeface="Arial" panose="02080604020202020204" pitchFamily="34" charset="0"/>
              <a:buChar char="•"/>
            </a:pPr>
            <a:r>
              <a:rPr lang="pt-BR" sz="1500" b="1" dirty="0">
                <a:solidFill>
                  <a:srgbClr val="000000"/>
                </a:solidFill>
                <a:latin typeface="Ubuntu Thin" panose="020B0304030602030204" charset="0"/>
                <a:cs typeface="Ubuntu Thin" panose="020B0304030602030204" charset="0"/>
              </a:rPr>
              <a:t>Single </a:t>
            </a:r>
            <a:r>
              <a:rPr lang="pt-BR" sz="1500" b="1" dirty="0" err="1">
                <a:solidFill>
                  <a:srgbClr val="000000"/>
                </a:solidFill>
                <a:latin typeface="Ubuntu Thin" panose="020B0304030602030204" charset="0"/>
                <a:cs typeface="Ubuntu Thin" panose="020B0304030602030204" charset="0"/>
              </a:rPr>
              <a:t>Threaded</a:t>
            </a:r>
            <a:r>
              <a:rPr lang="pt-BR" sz="1500" dirty="0">
                <a:solidFill>
                  <a:srgbClr val="000000"/>
                </a:solidFill>
                <a:latin typeface="Ubuntu Thin" panose="020B0304030602030204" charset="0"/>
                <a:cs typeface="Ubuntu Thin" panose="020B0304030602030204" charset="0"/>
              </a:rPr>
              <a:t>, mas altamente escalonável - Node.js usa um modelo de thread único com loop de eventos. O mecanismo de eventos ajuda o servidor a responder de forma não bloqueadora e torna o servidor altamente escalonável, ao contrário dos servidores tradicionais que criam threads limitados para lidar com as solicitações. O Node.js usa um único programa encadeado e o mesmo programa pode fornecer serviço a um número muito maior de solicitações do que servidores tradicionais como o Apache HTTP Server.</a:t>
            </a:r>
          </a:p>
          <a:p>
            <a:pPr algn="just">
              <a:lnSpc>
                <a:spcPct val="150000"/>
              </a:lnSpc>
              <a:buFont typeface="Arial" panose="02080604020202020204" pitchFamily="34" charset="0"/>
              <a:buChar char="•"/>
            </a:pPr>
            <a:r>
              <a:rPr lang="pt-BR" sz="1500" b="1" dirty="0">
                <a:solidFill>
                  <a:srgbClr val="000000"/>
                </a:solidFill>
                <a:latin typeface="Ubuntu Thin" panose="020B0304030602030204" charset="0"/>
                <a:cs typeface="Ubuntu Thin" panose="020B0304030602030204" charset="0"/>
              </a:rPr>
              <a:t>Sem buffer</a:t>
            </a:r>
            <a:r>
              <a:rPr lang="pt-BR" sz="1500" dirty="0">
                <a:solidFill>
                  <a:srgbClr val="000000"/>
                </a:solidFill>
                <a:latin typeface="Ubuntu Thin" panose="020B0304030602030204" charset="0"/>
                <a:cs typeface="Ubuntu Thin" panose="020B0304030602030204" charset="0"/>
              </a:rPr>
              <a:t> - os aplicativos Node.js nunca armazenam nenhum dado em buffer. Esses aplicativos simplesmente geram os dados em blocos.</a:t>
            </a:r>
          </a:p>
          <a:p>
            <a:pPr algn="just">
              <a:lnSpc>
                <a:spcPct val="150000"/>
              </a:lnSpc>
              <a:buFont typeface="Arial" panose="02080604020202020204" pitchFamily="34" charset="0"/>
              <a:buChar char="•"/>
            </a:pPr>
            <a:r>
              <a:rPr lang="pt-BR" sz="1500" b="1" dirty="0">
                <a:solidFill>
                  <a:srgbClr val="000000"/>
                </a:solidFill>
                <a:latin typeface="Ubuntu Thin" panose="020B0304030602030204" charset="0"/>
                <a:cs typeface="Ubuntu Thin" panose="020B0304030602030204" charset="0"/>
              </a:rPr>
              <a:t>Licença</a:t>
            </a:r>
            <a:r>
              <a:rPr lang="pt-BR" sz="1500" dirty="0">
                <a:solidFill>
                  <a:srgbClr val="000000"/>
                </a:solidFill>
                <a:latin typeface="Ubuntu Thin" panose="020B0304030602030204" charset="0"/>
                <a:cs typeface="Ubuntu Thin" panose="020B0304030602030204" charset="0"/>
              </a:rPr>
              <a:t> - Node.js é lançado sob a </a:t>
            </a:r>
            <a:r>
              <a:rPr lang="pt-BR" sz="1500" dirty="0">
                <a:solidFill>
                  <a:srgbClr val="000000"/>
                </a:solidFill>
                <a:latin typeface="Ubuntu Thin" panose="020B0304030602030204" charset="0"/>
                <a:cs typeface="Ubuntu Thin" panose="020B0304030602030204" charset="0"/>
                <a:hlinkClick r:id="rId3"/>
              </a:rPr>
              <a:t>licença MIT</a:t>
            </a:r>
            <a:r>
              <a:rPr lang="pt-BR" sz="1500" dirty="0">
                <a:solidFill>
                  <a:srgbClr val="000000"/>
                </a:solidFill>
                <a:latin typeface="Ubuntu Thin" panose="020B0304030602030204" charset="0"/>
                <a:cs typeface="Ubuntu Thin" panose="020B0304030602030204"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4559425" cy="3979585"/>
          </a:xfrm>
        </p:spPr>
        <p:txBody>
          <a:bodyPr anchor="ctr">
            <a:normAutofit fontScale="85000" lnSpcReduction="10000"/>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BR" sz="2100" b="1" i="0" u="none" strike="noStrike" dirty="0" err="1">
                <a:effectLst/>
                <a:latin typeface="Ubuntu Thin" panose="020B0304030602030204" charset="0"/>
                <a:cs typeface="Ubuntu Thin" panose="020B0304030602030204" charset="0"/>
              </a:rPr>
              <a:t>Environment</a:t>
            </a:r>
            <a:r>
              <a:rPr lang="pt-BR" sz="2100" b="1" i="0" u="none" strike="noStrike" dirty="0">
                <a:effectLst/>
                <a:latin typeface="Ubuntu Thin" panose="020B0304030602030204" charset="0"/>
                <a:cs typeface="Ubuntu Thin" panose="020B0304030602030204" charset="0"/>
              </a:rPr>
              <a:t> Setup(Configuração de ambiente)</a:t>
            </a:r>
          </a:p>
          <a:p>
            <a:pPr algn="just">
              <a:lnSpc>
                <a:spcPct val="150000"/>
              </a:lnSpc>
              <a:buFont typeface="Arial" panose="02080604020202020204" pitchFamily="34" charset="0"/>
              <a:buChar char="•"/>
            </a:pPr>
            <a:r>
              <a:rPr lang="pt-BR" sz="2100" dirty="0">
                <a:latin typeface="Ubuntu Thin" panose="020B0304030602030204" charset="0"/>
                <a:cs typeface="Ubuntu Thin" panose="020B0304030602030204" charset="0"/>
              </a:rPr>
              <a:t>Para trabalhar com o </a:t>
            </a:r>
            <a:r>
              <a:rPr lang="pt-BR" sz="2100" dirty="0" err="1">
                <a:latin typeface="Ubuntu Thin" panose="020B0304030602030204" charset="0"/>
                <a:cs typeface="Ubuntu Thin" panose="020B0304030602030204" charset="0"/>
              </a:rPr>
              <a:t>nodejs</a:t>
            </a:r>
            <a:r>
              <a:rPr lang="pt-BR" sz="2100" dirty="0">
                <a:latin typeface="Ubuntu Thin" panose="020B0304030602030204" charset="0"/>
                <a:cs typeface="Ubuntu Thin" panose="020B0304030602030204" charset="0"/>
              </a:rPr>
              <a:t> basta instalar o Node e NPM(este é instalado automaticamente, quando feito em Windows). </a:t>
            </a:r>
          </a:p>
          <a:p>
            <a:pPr algn="just">
              <a:lnSpc>
                <a:spcPct val="150000"/>
              </a:lnSpc>
              <a:buFont typeface="Arial" panose="02080604020202020204" pitchFamily="34" charset="0"/>
              <a:buChar char="•"/>
            </a:pPr>
            <a:r>
              <a:rPr lang="pt-BR" sz="2100" i="0" dirty="0">
                <a:effectLst/>
                <a:latin typeface="Ubuntu Thin" panose="020B0304030602030204" charset="0"/>
                <a:cs typeface="Ubuntu Thin" panose="020B0304030602030204" charset="0"/>
              </a:rPr>
              <a:t>Para escrever seus códigos basta instalar o Microsoft Visual Studio </a:t>
            </a:r>
            <a:r>
              <a:rPr lang="pt-BR" sz="2100" i="0" dirty="0" err="1">
                <a:effectLst/>
                <a:latin typeface="Ubuntu Thin" panose="020B0304030602030204" charset="0"/>
                <a:cs typeface="Ubuntu Thin" panose="020B0304030602030204" charset="0"/>
              </a:rPr>
              <a:t>Code</a:t>
            </a:r>
            <a:r>
              <a:rPr lang="pt-BR" sz="2100" i="0" dirty="0">
                <a:effectLst/>
                <a:latin typeface="Ubuntu Thin" panose="020B0304030602030204" charset="0"/>
                <a:cs typeface="Ubuntu Thin" panose="020B0304030602030204" charset="0"/>
              </a:rPr>
              <a:t>.</a:t>
            </a:r>
          </a:p>
          <a:p>
            <a:pPr algn="just">
              <a:lnSpc>
                <a:spcPct val="150000"/>
              </a:lnSpc>
              <a:buFont typeface="Arial" panose="02080604020202020204" pitchFamily="34" charset="0"/>
              <a:buChar char="•"/>
            </a:pPr>
            <a:r>
              <a:rPr lang="pt-BR" sz="2100" i="0" dirty="0">
                <a:effectLst/>
                <a:latin typeface="Ubuntu Thin" panose="020B0304030602030204" charset="0"/>
                <a:cs typeface="Ubuntu Thin" panose="020B0304030602030204" charset="0"/>
              </a:rPr>
              <a:t>Agora é só escrever o código e testar.</a:t>
            </a:r>
          </a:p>
        </p:txBody>
      </p:sp>
      <p:pic>
        <p:nvPicPr>
          <p:cNvPr id="4" name="Imagem 3"/>
          <p:cNvPicPr>
            <a:picLocks noChangeAspect="1"/>
          </p:cNvPicPr>
          <p:nvPr/>
        </p:nvPicPr>
        <p:blipFill>
          <a:blip r:embed="rId3"/>
          <a:stretch>
            <a:fillRect/>
          </a:stretch>
        </p:blipFill>
        <p:spPr>
          <a:xfrm>
            <a:off x="5815229" y="686200"/>
            <a:ext cx="5236638" cy="3941556"/>
          </a:xfrm>
          <a:prstGeom prst="rect">
            <a:avLst/>
          </a:prstGeom>
        </p:spPr>
      </p:pic>
      <p:pic>
        <p:nvPicPr>
          <p:cNvPr id="3078" name="Picture 6" descr="Update icon · Issue #6607 · microsoft/vscode · GitHu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0715" y="4001977"/>
            <a:ext cx="2244120" cy="2279263"/>
          </a:xfrm>
          <a:prstGeom prst="rect">
            <a:avLst/>
          </a:prstGeom>
          <a:noFill/>
          <a:extLst>
            <a:ext uri="{909E8E84-426E-40DD-AFC4-6F175D3DCCD1}">
              <a14:hiddenFill xmlns:a14="http://schemas.microsoft.com/office/drawing/2010/main">
                <a:solidFill>
                  <a:srgbClr val="FFFFFF"/>
                </a:solidFill>
              </a14:hiddenFill>
            </a:ext>
          </a:extLst>
        </p:spPr>
      </p:pic>
      <p:sp>
        <p:nvSpPr>
          <p:cNvPr id="18" name="CaixaDeTexto 17"/>
          <p:cNvSpPr txBox="1"/>
          <p:nvPr/>
        </p:nvSpPr>
        <p:spPr>
          <a:xfrm>
            <a:off x="5735796" y="4697557"/>
            <a:ext cx="6094140" cy="369332"/>
          </a:xfrm>
          <a:prstGeom prst="rect">
            <a:avLst/>
          </a:prstGeom>
          <a:noFill/>
        </p:spPr>
        <p:txBody>
          <a:bodyPr wrap="square">
            <a:spAutoFit/>
          </a:bodyPr>
          <a:lstStyle/>
          <a:p>
            <a:r>
              <a:rPr lang="pt-BR" dirty="0"/>
              <a:t>https://nodejs.org/en/download/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sz="1800" b="1" i="0" u="none" strike="noStrike" dirty="0" err="1">
                <a:effectLst/>
                <a:latin typeface="Ubuntu Thin" panose="020B0304030602030204" charset="0"/>
                <a:cs typeface="Ubuntu Thin" panose="020B0304030602030204" charset="0"/>
              </a:rPr>
              <a:t>Módulos:</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O grande poder do Node Js é a capacidade de trabalhar com módulos de javascript. </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Os módulos expandem a possibilidade de atuação de aplicações em web usando Node. Ele gerencia os módulos e nos permite utilizá-los em nossos projetos.</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Os módulos são escritos em Javascript, podem ser instalados, importados e utilizados nos projetos.</a:t>
            </a:r>
          </a:p>
        </p:txBody>
      </p:sp>
      <p:sp>
        <p:nvSpPr>
          <p:cNvPr id="13" name="Espaço Reservado para Conteúdo 2"/>
          <p:cNvSpPr txBox="1"/>
          <p:nvPr/>
        </p:nvSpPr>
        <p:spPr>
          <a:xfrm>
            <a:off x="6041006" y="776986"/>
            <a:ext cx="5485909" cy="5435811"/>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80604020202020204" pitchFamily="34" charset="0"/>
              <a:buNone/>
            </a:pPr>
            <a:r>
              <a:rPr lang="pt-PT" altLang="pt-BR" sz="1500" dirty="0">
                <a:solidFill>
                  <a:srgbClr val="000000"/>
                </a:solidFill>
                <a:latin typeface="Ubuntu Thin" panose="020B0304030602030204" charset="0"/>
                <a:cs typeface="Ubuntu Thin" panose="020B0304030602030204" charset="0"/>
              </a:rPr>
              <a:t>Antes de começar a criar projeto em nodejs vamos entender um pouco mais sobre os módulos em javascript. Como são criados e utilizados.</a:t>
            </a:r>
          </a:p>
          <a:p>
            <a:pPr marL="0" indent="0" algn="just">
              <a:lnSpc>
                <a:spcPct val="150000"/>
              </a:lnSpc>
              <a:buFont typeface="Arial" panose="02080604020202020204" pitchFamily="34" charset="0"/>
              <a:buNone/>
            </a:pPr>
            <a:r>
              <a:rPr lang="pt-PT" altLang="pt-BR" sz="1500" dirty="0">
                <a:solidFill>
                  <a:srgbClr val="000000"/>
                </a:solidFill>
                <a:latin typeface="Ubuntu Thin" panose="020B0304030602030204" charset="0"/>
                <a:cs typeface="Ubuntu Thin" panose="020B0304030602030204" charset="0"/>
              </a:rPr>
              <a:t>Vamos instalar o Microsoft VSCode para realizar nossos exemplos.</a:t>
            </a:r>
          </a:p>
          <a:p>
            <a:pPr marL="0" indent="0" algn="just">
              <a:lnSpc>
                <a:spcPct val="150000"/>
              </a:lnSpc>
              <a:buFont typeface="Arial" panose="02080604020202020204" pitchFamily="34" charset="0"/>
              <a:buNone/>
            </a:pPr>
            <a:r>
              <a:rPr lang="pt-PT" altLang="pt-BR" sz="1500" dirty="0">
                <a:solidFill>
                  <a:srgbClr val="000000"/>
                </a:solidFill>
                <a:latin typeface="Ubuntu Thin" panose="020B0304030602030204" charset="0"/>
                <a:cs typeface="Ubuntu Thin" panose="020B0304030602030204" charset="0"/>
              </a:rPr>
              <a:t>Depois de instalado iremos utlizar as seguintes extensões:	- Material Icon Theme</a:t>
            </a:r>
          </a:p>
          <a:p>
            <a:pPr marL="0" indent="0" algn="just">
              <a:lnSpc>
                <a:spcPct val="150000"/>
              </a:lnSpc>
              <a:buFont typeface="Arial" panose="02080604020202020204" pitchFamily="34" charset="0"/>
              <a:buNone/>
            </a:pPr>
            <a:r>
              <a:rPr lang="pt-PT" altLang="pt-BR" sz="1500" dirty="0">
                <a:solidFill>
                  <a:srgbClr val="000000"/>
                </a:solidFill>
                <a:latin typeface="Ubuntu Thin" panose="020B0304030602030204" charset="0"/>
                <a:cs typeface="Ubuntu Thin" panose="020B0304030602030204" charset="0"/>
              </a:rPr>
              <a:t>	- Prettier-Code Format</a:t>
            </a:r>
          </a:p>
          <a:p>
            <a:pPr marL="0" indent="0" algn="just">
              <a:lnSpc>
                <a:spcPct val="150000"/>
              </a:lnSpc>
              <a:buFont typeface="Arial" panose="02080604020202020204" pitchFamily="34" charset="0"/>
              <a:buNone/>
            </a:pPr>
            <a:r>
              <a:rPr lang="pt-PT" altLang="pt-BR" sz="1500" dirty="0">
                <a:solidFill>
                  <a:srgbClr val="000000"/>
                </a:solidFill>
                <a:latin typeface="Ubuntu Thin" panose="020B0304030602030204" charset="0"/>
                <a:cs typeface="Ubuntu Thin" panose="020B0304030602030204" charset="0"/>
              </a:rPr>
              <a:t>	- Live Server</a:t>
            </a:r>
          </a:p>
          <a:p>
            <a:pPr marL="0" indent="0" algn="just">
              <a:lnSpc>
                <a:spcPct val="150000"/>
              </a:lnSpc>
              <a:buFont typeface="Arial" panose="02080604020202020204" pitchFamily="34" charset="0"/>
              <a:buNone/>
            </a:pPr>
            <a:r>
              <a:rPr lang="pt-PT" altLang="pt-BR" sz="1500" dirty="0">
                <a:solidFill>
                  <a:srgbClr val="000000"/>
                </a:solidFill>
                <a:latin typeface="Ubuntu Thin" panose="020B0304030602030204" charset="0"/>
                <a:cs typeface="Ubuntu Thin" panose="020B0304030602030204" charset="0"/>
              </a:rPr>
              <a:t>	- Bracket Pair Colorizer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sz="1800" b="1" i="0" u="none" strike="noStrike" dirty="0" err="1">
                <a:effectLst/>
                <a:latin typeface="Ubuntu Thin" panose="020B0304030602030204" charset="0"/>
                <a:cs typeface="Ubuntu Thin" panose="020B0304030602030204" charset="0"/>
              </a:rPr>
              <a:t>Módulos:</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Vamos criar um diretorio chamado JavaScript e dentro deste crie os seguintes arquivos:</a:t>
            </a:r>
          </a:p>
          <a:p>
            <a:pPr lvl="1">
              <a:lnSpc>
                <a:spcPct val="150000"/>
              </a:lnSpc>
              <a:buFont typeface="Arial" panose="02080604020202020204" pitchFamily="34" charset="0"/>
              <a:buChar char="•"/>
            </a:pPr>
            <a:r>
              <a:rPr lang="pt-PT" sz="1200" b="0" i="0" dirty="0">
                <a:effectLst/>
                <a:latin typeface="Ubuntu Thin" panose="020B0304030602030204" charset="0"/>
                <a:cs typeface="Ubuntu Thin" panose="020B0304030602030204" charset="0"/>
              </a:rPr>
              <a:t>index.html</a:t>
            </a:r>
          </a:p>
          <a:p>
            <a:pPr lvl="1">
              <a:lnSpc>
                <a:spcPct val="150000"/>
              </a:lnSpc>
              <a:buFont typeface="Arial" panose="02080604020202020204" pitchFamily="34" charset="0"/>
              <a:buChar char="•"/>
            </a:pPr>
            <a:r>
              <a:rPr lang="pt-PT" sz="1200" b="0" i="0" dirty="0">
                <a:effectLst/>
                <a:latin typeface="Ubuntu Thin" panose="020B0304030602030204" charset="0"/>
                <a:cs typeface="Ubuntu Thin" panose="020B0304030602030204" charset="0"/>
              </a:rPr>
              <a:t>script.js</a:t>
            </a:r>
          </a:p>
          <a:p>
            <a:pPr lvl="1">
              <a:lnSpc>
                <a:spcPct val="150000"/>
              </a:lnSpc>
              <a:buFont typeface="Arial" panose="02080604020202020204" pitchFamily="34" charset="0"/>
              <a:buChar char="•"/>
            </a:pPr>
            <a:r>
              <a:rPr lang="pt-PT" sz="1200" b="0" i="0" dirty="0">
                <a:effectLst/>
                <a:latin typeface="Ubuntu Thin" panose="020B0304030602030204" charset="0"/>
                <a:cs typeface="Ubuntu Thin" panose="020B0304030602030204" charset="0"/>
              </a:rPr>
              <a:t>utils.js</a:t>
            </a:r>
          </a:p>
          <a:p>
            <a:pPr lvl="1">
              <a:lnSpc>
                <a:spcPct val="150000"/>
              </a:lnSpc>
              <a:buFont typeface="Arial" panose="02080604020202020204" pitchFamily="34" charset="0"/>
              <a:buChar char="•"/>
            </a:pPr>
            <a:endParaRPr lang="pt-PT" sz="1200" b="0" i="0" dirty="0">
              <a:effectLst/>
              <a:latin typeface="Ubuntu Thin" panose="020B0304030602030204" charset="0"/>
              <a:cs typeface="Ubuntu Thin" panose="020B0304030602030204" charset="0"/>
            </a:endParaRPr>
          </a:p>
          <a:p>
            <a:pPr marL="457200" lvl="1" indent="0">
              <a:lnSpc>
                <a:spcPct val="150000"/>
              </a:lnSpc>
              <a:buFont typeface="Arial" panose="02080604020202020204" pitchFamily="34" charset="0"/>
              <a:buNone/>
            </a:pPr>
            <a:r>
              <a:rPr lang="pt-PT" sz="1200" b="0" i="0" dirty="0">
                <a:effectLst/>
                <a:latin typeface="Ubuntu Thin" panose="020B0304030602030204" charset="0"/>
                <a:cs typeface="Ubuntu Thin" panose="020B0304030602030204" charset="0"/>
              </a:rPr>
              <a:t>Acompanhe ao lado ... </a:t>
            </a:r>
          </a:p>
          <a:p>
            <a:pPr marL="457200" lvl="1" indent="0">
              <a:lnSpc>
                <a:spcPct val="150000"/>
              </a:lnSpc>
              <a:buFont typeface="Arial" panose="02080604020202020204" pitchFamily="34" charset="0"/>
              <a:buNone/>
            </a:pPr>
            <a:endParaRPr lang="pt-PT" sz="1200" b="0" i="0" dirty="0">
              <a:effectLst/>
              <a:latin typeface="Ubuntu Thin" panose="020B0304030602030204" charset="0"/>
              <a:cs typeface="Ubuntu Thin" panose="020B0304030602030204" charset="0"/>
            </a:endParaRPr>
          </a:p>
          <a:p>
            <a:pPr>
              <a:lnSpc>
                <a:spcPct val="150000"/>
              </a:lnSpc>
              <a:buFont typeface="Arial" panose="02080604020202020204" pitchFamily="34" charset="0"/>
              <a:buChar char="•"/>
            </a:pPr>
            <a:endParaRPr lang="pt-PT" sz="1400" b="0" i="0" dirty="0">
              <a:effectLst/>
              <a:latin typeface="Ubuntu Thin" panose="020B0304030602030204" charset="0"/>
              <a:cs typeface="Ubuntu Thin" panose="020B0304030602030204" charset="0"/>
            </a:endParaRPr>
          </a:p>
        </p:txBody>
      </p:sp>
      <p:pic>
        <p:nvPicPr>
          <p:cNvPr id="4" name="Picture 3"/>
          <p:cNvPicPr>
            <a:picLocks noChangeAspect="1"/>
          </p:cNvPicPr>
          <p:nvPr/>
        </p:nvPicPr>
        <p:blipFill>
          <a:blip r:embed="rId3"/>
          <a:stretch>
            <a:fillRect/>
          </a:stretch>
        </p:blipFill>
        <p:spPr>
          <a:xfrm>
            <a:off x="6341745" y="1083310"/>
            <a:ext cx="4111625" cy="49117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sz="1800" b="1" i="0" u="none" strike="noStrike" dirty="0" err="1">
                <a:effectLst/>
                <a:latin typeface="Ubuntu Thin" panose="020B0304030602030204" charset="0"/>
                <a:cs typeface="Ubuntu Thin" panose="020B0304030602030204" charset="0"/>
              </a:rPr>
              <a:t>utils.js </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Neste arquivo iremos criar algumas funções e as exportaremos para que fique visivel a todo o projeto.</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Acompanhe o código ao lado.</a:t>
            </a:r>
          </a:p>
        </p:txBody>
      </p:sp>
      <p:pic>
        <p:nvPicPr>
          <p:cNvPr id="6" name="Picture 5"/>
          <p:cNvPicPr>
            <a:picLocks noChangeAspect="1"/>
          </p:cNvPicPr>
          <p:nvPr/>
        </p:nvPicPr>
        <p:blipFill>
          <a:blip r:embed="rId3"/>
          <a:stretch>
            <a:fillRect/>
          </a:stretch>
        </p:blipFill>
        <p:spPr>
          <a:xfrm>
            <a:off x="6111240" y="733425"/>
            <a:ext cx="4813935" cy="53905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sz="1800" b="1" i="0" u="none" strike="noStrike" dirty="0" err="1">
                <a:effectLst/>
                <a:latin typeface="Ubuntu Thin" panose="020B0304030602030204" charset="0"/>
                <a:cs typeface="Ubuntu Thin" panose="020B0304030602030204" charset="0"/>
              </a:rPr>
              <a:t>utils.js </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Vamos transformar estas funções módulos.</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Para isso basta exportá-las com o seguinte comando:</a:t>
            </a:r>
          </a:p>
          <a:p>
            <a:pPr>
              <a:lnSpc>
                <a:spcPct val="150000"/>
              </a:lnSpc>
              <a:buFont typeface="Arial" panose="02080604020202020204" pitchFamily="34" charset="0"/>
              <a:buChar char="•"/>
            </a:pPr>
            <a:endParaRPr lang="pt-PT" sz="1400" b="0" i="0" dirty="0">
              <a:effectLst/>
              <a:latin typeface="Ubuntu Thin" panose="020B0304030602030204" charset="0"/>
              <a:cs typeface="Ubuntu Thin" panose="020B0304030602030204" charset="0"/>
            </a:endParaRP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modules.export = nomedafuncao</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ou </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modules.export = { nomedafuncao,nomedafuncao...}</a:t>
            </a:r>
          </a:p>
        </p:txBody>
      </p:sp>
      <p:pic>
        <p:nvPicPr>
          <p:cNvPr id="7" name="Picture 6"/>
          <p:cNvPicPr>
            <a:picLocks noChangeAspect="1"/>
          </p:cNvPicPr>
          <p:nvPr/>
        </p:nvPicPr>
        <p:blipFill>
          <a:blip r:embed="rId3"/>
          <a:stretch>
            <a:fillRect/>
          </a:stretch>
        </p:blipFill>
        <p:spPr>
          <a:xfrm>
            <a:off x="5793740" y="666750"/>
            <a:ext cx="4259580" cy="5652135"/>
          </a:xfrm>
          <a:prstGeom prst="rect">
            <a:avLst/>
          </a:prstGeom>
        </p:spPr>
      </p:pic>
      <p:sp>
        <p:nvSpPr>
          <p:cNvPr id="5" name="Oval 4"/>
          <p:cNvSpPr/>
          <p:nvPr/>
        </p:nvSpPr>
        <p:spPr>
          <a:xfrm>
            <a:off x="5852160" y="5312410"/>
            <a:ext cx="2912745" cy="619125"/>
          </a:xfrm>
          <a:prstGeom prst="ellipse">
            <a:avLst/>
          </a:prstGeom>
          <a:noFill/>
          <a:ln w="3810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sz="1800" b="1" i="0" u="none" strike="noStrike" dirty="0" err="1">
                <a:effectLst/>
                <a:latin typeface="Ubuntu Thin" panose="020B0304030602030204" charset="0"/>
                <a:cs typeface="Ubuntu Thin" panose="020B0304030602030204" charset="0"/>
              </a:rPr>
              <a:t>scripts.js </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Agora iremos utilizar as funções em nosso arquivo de scripts realizando a importação das funções criadas anteriormente.</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Veja ao lado.</a:t>
            </a:r>
          </a:p>
        </p:txBody>
      </p:sp>
      <p:pic>
        <p:nvPicPr>
          <p:cNvPr id="6" name="Picture 5"/>
          <p:cNvPicPr>
            <a:picLocks noChangeAspect="1"/>
          </p:cNvPicPr>
          <p:nvPr/>
        </p:nvPicPr>
        <p:blipFill>
          <a:blip r:embed="rId3"/>
          <a:stretch>
            <a:fillRect/>
          </a:stretch>
        </p:blipFill>
        <p:spPr>
          <a:xfrm>
            <a:off x="5877560" y="1023620"/>
            <a:ext cx="5370195" cy="2138045"/>
          </a:xfrm>
          <a:prstGeom prst="rect">
            <a:avLst/>
          </a:prstGeom>
        </p:spPr>
      </p:pic>
      <p:sp>
        <p:nvSpPr>
          <p:cNvPr id="5" name="Oval 4"/>
          <p:cNvSpPr/>
          <p:nvPr/>
        </p:nvSpPr>
        <p:spPr>
          <a:xfrm>
            <a:off x="6234430" y="1137920"/>
            <a:ext cx="4795520" cy="619125"/>
          </a:xfrm>
          <a:prstGeom prst="ellipse">
            <a:avLst/>
          </a:prstGeom>
          <a:noFill/>
          <a:ln w="3810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spaço Reservado para Conteúdo 2"/>
          <p:cNvSpPr>
            <a:spLocks noGrp="1"/>
          </p:cNvSpPr>
          <p:nvPr/>
        </p:nvSpPr>
        <p:spPr>
          <a:xfrm>
            <a:off x="5946775" y="3256280"/>
            <a:ext cx="5749290" cy="301561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Realizando a importação da função mensagem que está dentro do módulo utils.js</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Algumas coisas a se considerar aqui:</a:t>
            </a:r>
          </a:p>
          <a:p>
            <a:pPr lvl="1">
              <a:lnSpc>
                <a:spcPct val="150000"/>
              </a:lnSpc>
              <a:buFont typeface="Arial" panose="02080604020202020204" pitchFamily="34" charset="0"/>
              <a:buChar char="•"/>
            </a:pPr>
            <a:r>
              <a:rPr lang="pt-PT" sz="1200" b="0" i="0" dirty="0">
                <a:effectLst/>
                <a:latin typeface="Ubuntu Thin" panose="020B0304030602030204" charset="0"/>
                <a:cs typeface="Ubuntu Thin" panose="020B0304030602030204" charset="0"/>
              </a:rPr>
              <a:t>para importar apenas um fragmento, neste caso uma função, você vai notar que usamos as chaves e adicionamos o nome da função que será importada do módulo.</a:t>
            </a:r>
          </a:p>
          <a:p>
            <a:pPr lvl="1">
              <a:lnSpc>
                <a:spcPct val="150000"/>
              </a:lnSpc>
              <a:buFont typeface="Arial" panose="02080604020202020204" pitchFamily="34" charset="0"/>
              <a:buChar char="•"/>
            </a:pPr>
            <a:r>
              <a:rPr lang="pt-PT" sz="1200" b="0" i="0" dirty="0">
                <a:effectLst/>
                <a:latin typeface="Ubuntu Thin" panose="020B0304030602030204" charset="0"/>
                <a:cs typeface="Ubuntu Thin" panose="020B0304030602030204" charset="0"/>
              </a:rPr>
              <a:t>outro ponto interessante é que para fazer referência ao arquivo utils.js que está na mesma pasta do arquivo scripts.js, utilizamos “./” para indicar ele está no mesmo local.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sz="1800" b="1" i="0" u="none" strike="noStrike" dirty="0" err="1">
                <a:effectLst/>
                <a:latin typeface="Ubuntu Thin" panose="020B0304030602030204" charset="0"/>
                <a:cs typeface="Ubuntu Thin" panose="020B0304030602030204" charset="0"/>
              </a:rPr>
              <a:t>scripts.js </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Ainda é possível utilizar um alias para fazer referência a função mensagem que está sendo importada do módulo utils.js</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Veja</a:t>
            </a:r>
          </a:p>
        </p:txBody>
      </p:sp>
      <p:pic>
        <p:nvPicPr>
          <p:cNvPr id="4" name="Picture 3"/>
          <p:cNvPicPr>
            <a:picLocks noChangeAspect="1"/>
          </p:cNvPicPr>
          <p:nvPr/>
        </p:nvPicPr>
        <p:blipFill>
          <a:blip r:embed="rId3"/>
          <a:stretch>
            <a:fillRect/>
          </a:stretch>
        </p:blipFill>
        <p:spPr>
          <a:xfrm>
            <a:off x="5896610" y="855980"/>
            <a:ext cx="5588000" cy="1543685"/>
          </a:xfrm>
          <a:prstGeom prst="rect">
            <a:avLst/>
          </a:prstGeom>
        </p:spPr>
      </p:pic>
      <p:sp>
        <p:nvSpPr>
          <p:cNvPr id="5" name="Oval 4"/>
          <p:cNvSpPr/>
          <p:nvPr/>
        </p:nvSpPr>
        <p:spPr>
          <a:xfrm>
            <a:off x="6234430" y="1137920"/>
            <a:ext cx="5250180" cy="619125"/>
          </a:xfrm>
          <a:prstGeom prst="ellipse">
            <a:avLst/>
          </a:prstGeom>
          <a:noFill/>
          <a:ln w="38100">
            <a:solidFill>
              <a:srgbClr val="FF0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4488"/>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sz="1800" b="1" i="0" u="none" strike="noStrike" dirty="0" err="1">
                <a:effectLst/>
                <a:latin typeface="Ubuntu Thin" panose="020B0304030602030204" charset="0"/>
                <a:cs typeface="Ubuntu Thin" panose="020B0304030602030204" charset="0"/>
              </a:rPr>
              <a:t>scripts.js </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Podemos também importar as outras funções do nosso módulo utils.js</a:t>
            </a:r>
          </a:p>
        </p:txBody>
      </p:sp>
      <p:pic>
        <p:nvPicPr>
          <p:cNvPr id="6" name="Picture 5"/>
          <p:cNvPicPr>
            <a:picLocks noChangeAspect="1"/>
          </p:cNvPicPr>
          <p:nvPr/>
        </p:nvPicPr>
        <p:blipFill>
          <a:blip r:embed="rId3"/>
          <a:stretch>
            <a:fillRect/>
          </a:stretch>
        </p:blipFill>
        <p:spPr>
          <a:xfrm>
            <a:off x="5845175" y="1083310"/>
            <a:ext cx="5691505" cy="26708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4488"/>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altLang="pt-BR" sz="1800" b="1" i="0" u="none" strike="noStrike" dirty="0">
                <a:effectLst/>
                <a:latin typeface="Ubuntu Thin" panose="020B0304030602030204" charset="0"/>
                <a:cs typeface="Ubuntu Thin" panose="020B0304030602030204" charset="0"/>
              </a:rPr>
              <a:t>index.html</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Vamos executar os scripts e ver seu funcionamento. Quando for importar os scripts.js será necessário adicionar um atributo chamado type com o valor module.</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Vamos iniciar nosso projeto. Iremos usar o Live Server(extensão instalada no VSCode). Faça CRT+SHIFT+P digite Live Server e escolha </a:t>
            </a:r>
            <a:r>
              <a:rPr lang="pt-PT" sz="1400" b="0" i="1" dirty="0">
                <a:effectLst/>
                <a:latin typeface="Ubuntu Thin" panose="020B0304030602030204" charset="0"/>
                <a:cs typeface="Ubuntu Thin" panose="020B0304030602030204" charset="0"/>
              </a:rPr>
              <a:t>Open With Live Server</a:t>
            </a:r>
            <a:r>
              <a:rPr lang="pt-PT" sz="1400" b="0" i="0" dirty="0">
                <a:effectLst/>
                <a:latin typeface="Ubuntu Thin" panose="020B0304030602030204" charset="0"/>
                <a:cs typeface="Ubuntu Thin" panose="020B0304030602030204" charset="0"/>
              </a:rPr>
              <a:t>. </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No navegado tecle F12 e veja o console</a:t>
            </a:r>
          </a:p>
        </p:txBody>
      </p:sp>
      <p:pic>
        <p:nvPicPr>
          <p:cNvPr id="5" name="Picture 4"/>
          <p:cNvPicPr>
            <a:picLocks noChangeAspect="1"/>
          </p:cNvPicPr>
          <p:nvPr/>
        </p:nvPicPr>
        <p:blipFill>
          <a:blip r:embed="rId3"/>
          <a:stretch>
            <a:fillRect/>
          </a:stretch>
        </p:blipFill>
        <p:spPr>
          <a:xfrm>
            <a:off x="5890260" y="855980"/>
            <a:ext cx="5600700" cy="1895475"/>
          </a:xfrm>
          <a:prstGeom prst="rect">
            <a:avLst/>
          </a:prstGeom>
        </p:spPr>
      </p:pic>
      <p:pic>
        <p:nvPicPr>
          <p:cNvPr id="7" name="Picture 6"/>
          <p:cNvPicPr>
            <a:picLocks noChangeAspect="1"/>
          </p:cNvPicPr>
          <p:nvPr/>
        </p:nvPicPr>
        <p:blipFill>
          <a:blip r:embed="rId4"/>
          <a:stretch>
            <a:fillRect/>
          </a:stretch>
        </p:blipFill>
        <p:spPr>
          <a:xfrm>
            <a:off x="6887845" y="3943985"/>
            <a:ext cx="3438525" cy="15716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4488"/>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475" y="2233295"/>
            <a:ext cx="4559300" cy="201485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altLang="pt-BR" sz="1800" b="1" i="0" u="none" strike="noStrike" dirty="0">
                <a:effectLst/>
                <a:latin typeface="Ubuntu Thin" panose="020B0304030602030204" charset="0"/>
                <a:cs typeface="Ubuntu Thin" panose="020B0304030602030204" charset="0"/>
              </a:rPr>
              <a:t>utils.js</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Vamos criar uma estrutura um pouco mais elaborada. </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apague todo o conteúdo do arquivo e adicione o código ao seguir.</a:t>
            </a:r>
          </a:p>
        </p:txBody>
      </p:sp>
      <p:pic>
        <p:nvPicPr>
          <p:cNvPr id="4" name="Picture 3"/>
          <p:cNvPicPr>
            <a:picLocks noChangeAspect="1"/>
          </p:cNvPicPr>
          <p:nvPr/>
        </p:nvPicPr>
        <p:blipFill>
          <a:blip r:embed="rId3"/>
          <a:srcRect b="75168"/>
          <a:stretch>
            <a:fillRect/>
          </a:stretch>
        </p:blipFill>
        <p:spPr>
          <a:xfrm>
            <a:off x="275590" y="4248150"/>
            <a:ext cx="5187315" cy="2263140"/>
          </a:xfrm>
          <a:prstGeom prst="rect">
            <a:avLst/>
          </a:prstGeom>
        </p:spPr>
      </p:pic>
      <p:pic>
        <p:nvPicPr>
          <p:cNvPr id="6" name="Picture 5"/>
          <p:cNvPicPr>
            <a:picLocks noChangeAspect="1"/>
          </p:cNvPicPr>
          <p:nvPr/>
        </p:nvPicPr>
        <p:blipFill>
          <a:blip r:embed="rId3"/>
          <a:srcRect t="23971"/>
          <a:stretch>
            <a:fillRect/>
          </a:stretch>
        </p:blipFill>
        <p:spPr>
          <a:xfrm>
            <a:off x="6863080" y="-5080"/>
            <a:ext cx="5416550" cy="68630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3175"/>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4488"/>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475" y="2233295"/>
            <a:ext cx="4559300" cy="201485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altLang="pt-BR" sz="1800" b="1" i="0" u="none" strike="noStrike" dirty="0">
                <a:effectLst/>
                <a:latin typeface="Ubuntu Thin" panose="020B0304030602030204" charset="0"/>
                <a:cs typeface="Ubuntu Thin" panose="020B0304030602030204" charset="0"/>
              </a:rPr>
              <a:t>script.js</a:t>
            </a:r>
          </a:p>
          <a:p>
            <a:pPr>
              <a:lnSpc>
                <a:spcPct val="150000"/>
              </a:lnSpc>
              <a:buFont typeface="Arial" panose="02080604020202020204" pitchFamily="34" charset="0"/>
              <a:buChar char="•"/>
            </a:pPr>
            <a:r>
              <a:rPr lang="pt-PT" sz="1400" b="0" i="0" dirty="0">
                <a:effectLst/>
                <a:latin typeface="Ubuntu Thin" panose="020B0304030602030204" charset="0"/>
                <a:cs typeface="Ubuntu Thin" panose="020B0304030602030204" charset="0"/>
              </a:rPr>
              <a:t>Veja a utilização do módulo criado.</a:t>
            </a:r>
          </a:p>
        </p:txBody>
      </p:sp>
      <p:pic>
        <p:nvPicPr>
          <p:cNvPr id="5" name="Picture 4"/>
          <p:cNvPicPr>
            <a:picLocks noChangeAspect="1"/>
          </p:cNvPicPr>
          <p:nvPr/>
        </p:nvPicPr>
        <p:blipFill>
          <a:blip r:embed="rId3"/>
          <a:stretch>
            <a:fillRect/>
          </a:stretch>
        </p:blipFill>
        <p:spPr>
          <a:xfrm>
            <a:off x="87630" y="3883660"/>
            <a:ext cx="5362575" cy="1734185"/>
          </a:xfrm>
          <a:prstGeom prst="rect">
            <a:avLst/>
          </a:prstGeom>
        </p:spPr>
      </p:pic>
      <p:pic>
        <p:nvPicPr>
          <p:cNvPr id="7" name="Picture 6"/>
          <p:cNvPicPr>
            <a:picLocks noChangeAspect="1"/>
          </p:cNvPicPr>
          <p:nvPr/>
        </p:nvPicPr>
        <p:blipFill>
          <a:blip r:embed="rId4"/>
          <a:stretch>
            <a:fillRect/>
          </a:stretch>
        </p:blipFill>
        <p:spPr>
          <a:xfrm>
            <a:off x="5854065" y="1461770"/>
            <a:ext cx="5673090" cy="3022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3175"/>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4488"/>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475" y="2233295"/>
            <a:ext cx="4559300" cy="401891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altLang="pt-BR" sz="1800" b="1" i="0" u="none" strike="noStrike" dirty="0">
                <a:effectLst/>
                <a:latin typeface="Ubuntu Thin" panose="020B0304030602030204" charset="0"/>
                <a:cs typeface="Ubuntu Thin" panose="020B0304030602030204" charset="0"/>
              </a:rPr>
              <a:t>NPM - Node Package Manager</a:t>
            </a:r>
          </a:p>
          <a:p>
            <a:pPr lvl="1">
              <a:lnSpc>
                <a:spcPct val="150000"/>
              </a:lnSpc>
              <a:buFont typeface="Arial" panose="02080604020202020204" pitchFamily="34" charset="0"/>
              <a:buChar char="•"/>
            </a:pPr>
            <a:r>
              <a:rPr lang="pt-PT" altLang="pt-BR" sz="1540" b="1" i="0" u="none" strike="noStrike" dirty="0">
                <a:effectLst/>
                <a:latin typeface="Ubuntu Thin" panose="020B0304030602030204" charset="0"/>
                <a:cs typeface="Ubuntu Thin" panose="020B0304030602030204" charset="0"/>
              </a:rPr>
              <a:t>Módulos criados em JavaScript podem ser publicados no NPM para serem utilizados nos mais diversos projetos pelo mundo.</a:t>
            </a:r>
          </a:p>
          <a:p>
            <a:pPr lvl="1">
              <a:lnSpc>
                <a:spcPct val="150000"/>
              </a:lnSpc>
              <a:buFont typeface="Arial" panose="02080604020202020204" pitchFamily="34" charset="0"/>
              <a:buChar char="•"/>
            </a:pPr>
            <a:r>
              <a:rPr lang="pt-PT" altLang="pt-BR" sz="1540" b="1" i="0" u="none" strike="noStrike" dirty="0">
                <a:effectLst/>
                <a:latin typeface="Ubuntu Thin" panose="020B0304030602030204" charset="0"/>
                <a:cs typeface="Ubuntu Thin" panose="020B0304030602030204" charset="0"/>
              </a:rPr>
              <a:t>Vamos criar uma conta no npm e publicar nossos módulos para utilizar em projetos.</a:t>
            </a:r>
          </a:p>
          <a:p>
            <a:pPr lvl="1">
              <a:lnSpc>
                <a:spcPct val="150000"/>
              </a:lnSpc>
              <a:buFont typeface="Arial" panose="02080604020202020204" pitchFamily="34" charset="0"/>
              <a:buChar char="•"/>
            </a:pPr>
            <a:endParaRPr lang="pt-PT" sz="1200" b="0" i="0" dirty="0">
              <a:effectLst/>
              <a:latin typeface="Ubuntu Thin" panose="020B0304030602030204" charset="0"/>
              <a:cs typeface="Ubuntu Thin" panose="020B0304030602030204" charset="0"/>
            </a:endParaRPr>
          </a:p>
          <a:p>
            <a:pPr lvl="1">
              <a:lnSpc>
                <a:spcPct val="150000"/>
              </a:lnSpc>
              <a:buFont typeface="Arial" panose="02080604020202020204" pitchFamily="34" charset="0"/>
              <a:buChar char="•"/>
            </a:pPr>
            <a:r>
              <a:rPr lang="pt-PT" sz="1200" b="0" i="0" dirty="0">
                <a:effectLst/>
                <a:latin typeface="Ubuntu Thin" panose="020B0304030602030204" charset="0"/>
                <a:cs typeface="Ubuntu Thin" panose="020B0304030602030204" charset="0"/>
              </a:rPr>
              <a:t>https://www.npmjs.com/</a:t>
            </a:r>
          </a:p>
        </p:txBody>
      </p:sp>
      <p:pic>
        <p:nvPicPr>
          <p:cNvPr id="4" name="Picture 3"/>
          <p:cNvPicPr>
            <a:picLocks noChangeAspect="1"/>
          </p:cNvPicPr>
          <p:nvPr/>
        </p:nvPicPr>
        <p:blipFill>
          <a:blip r:embed="rId3"/>
          <a:stretch>
            <a:fillRect/>
          </a:stretch>
        </p:blipFill>
        <p:spPr>
          <a:xfrm>
            <a:off x="6020435" y="1835785"/>
            <a:ext cx="5599430" cy="31857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3175"/>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512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475" y="2233295"/>
            <a:ext cx="4559300" cy="4018915"/>
          </a:xfrm>
        </p:spPr>
        <p:txBody>
          <a:bodyPr anchor="ctr">
            <a:normAutofit lnSpcReduction="20000"/>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altLang="pt-BR" sz="1800" b="1" i="0" u="none" strike="noStrike" dirty="0">
                <a:effectLst/>
                <a:latin typeface="Ubuntu Thin" panose="020B0304030602030204" charset="0"/>
                <a:cs typeface="Ubuntu Thin" panose="020B0304030602030204" charset="0"/>
              </a:rPr>
              <a:t>Vamos utilizar nosso módulo do clientes para publicar no npm. Copie todo o código do arquivo utils.js e vamos criar um novo projeto. Iremos criar um projeto em node js com os comandos: npm init e responder ao que é pedido. </a:t>
            </a:r>
          </a:p>
          <a:p>
            <a:pPr>
              <a:lnSpc>
                <a:spcPct val="150000"/>
              </a:lnSpc>
              <a:buFont typeface="Arial" panose="02080604020202020204" pitchFamily="34" charset="0"/>
              <a:buChar char="•"/>
            </a:pPr>
            <a:r>
              <a:rPr lang="pt-PT" sz="1800" b="1" i="0" dirty="0">
                <a:effectLst/>
                <a:latin typeface="Ubuntu Thin" panose="020B0304030602030204" charset="0"/>
                <a:cs typeface="Ubuntu Thin" panose="020B0304030602030204" charset="0"/>
              </a:rPr>
              <a:t>Agora, vamos criar um arquivo chamado index.js e vamos colar o conteúdo do arquivo utils.js.</a:t>
            </a:r>
          </a:p>
          <a:p>
            <a:pPr>
              <a:lnSpc>
                <a:spcPct val="150000"/>
              </a:lnSpc>
              <a:buFont typeface="Arial" panose="02080604020202020204" pitchFamily="34" charset="0"/>
              <a:buChar char="•"/>
            </a:pPr>
            <a:endParaRPr lang="pt-PT" sz="1800" b="1" i="0" dirty="0">
              <a:effectLst/>
              <a:latin typeface="Ubuntu Thin" panose="020B0304030602030204" charset="0"/>
              <a:cs typeface="Ubuntu Thin" panose="020B0304030602030204" charset="0"/>
            </a:endParaRPr>
          </a:p>
        </p:txBody>
      </p:sp>
      <p:sp>
        <p:nvSpPr>
          <p:cNvPr id="6" name="Text Box 5"/>
          <p:cNvSpPr txBox="1"/>
          <p:nvPr/>
        </p:nvSpPr>
        <p:spPr>
          <a:xfrm>
            <a:off x="6397625" y="2090420"/>
            <a:ext cx="4906010" cy="506730"/>
          </a:xfrm>
          <a:prstGeom prst="rect">
            <a:avLst/>
          </a:prstGeom>
          <a:noFill/>
        </p:spPr>
        <p:txBody>
          <a:bodyPr wrap="none" rtlCol="0" anchor="t">
            <a:spAutoFit/>
          </a:bodyPr>
          <a:lstStyle/>
          <a:p>
            <a:pPr>
              <a:lnSpc>
                <a:spcPct val="150000"/>
              </a:lnSpc>
              <a:buFont typeface="Arial" panose="02080604020202020204" pitchFamily="34" charset="0"/>
              <a:buChar char="•"/>
            </a:pPr>
            <a:r>
              <a:rPr lang="pt-PT" b="1" dirty="0">
                <a:effectLst/>
                <a:latin typeface="Ubuntu Thin" panose="020B0304030602030204" charset="0"/>
                <a:cs typeface="Ubuntu Thin" panose="020B0304030602030204" charset="0"/>
                <a:sym typeface="+mn-ea"/>
              </a:rPr>
              <a:t>Veja como ficou nosso código no próximo slide</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3175"/>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4488"/>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rcRect r="546" b="52683"/>
          <a:stretch>
            <a:fillRect/>
          </a:stretch>
        </p:blipFill>
        <p:spPr>
          <a:xfrm>
            <a:off x="159385" y="2334260"/>
            <a:ext cx="5664835" cy="4295140"/>
          </a:xfrm>
          <a:prstGeom prst="rect">
            <a:avLst/>
          </a:prstGeom>
        </p:spPr>
      </p:pic>
      <p:pic>
        <p:nvPicPr>
          <p:cNvPr id="6" name="Picture 5"/>
          <p:cNvPicPr>
            <a:picLocks noChangeAspect="1"/>
          </p:cNvPicPr>
          <p:nvPr/>
        </p:nvPicPr>
        <p:blipFill>
          <a:blip r:embed="rId3"/>
          <a:srcRect l="847" t="47611" r="-301" b="252"/>
          <a:stretch>
            <a:fillRect/>
          </a:stretch>
        </p:blipFill>
        <p:spPr>
          <a:xfrm>
            <a:off x="6030595" y="1266825"/>
            <a:ext cx="5664835" cy="47326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87630" y="3175"/>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512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475" y="2233295"/>
            <a:ext cx="4559300" cy="4018915"/>
          </a:xfrm>
        </p:spPr>
        <p:txBody>
          <a:bodyPr anchor="ctr">
            <a:normAutofit/>
          </a:bodyPr>
          <a:lstStyle/>
          <a:p>
            <a:pPr>
              <a:lnSpc>
                <a:spcPct val="150000"/>
              </a:lnSpc>
              <a:buFont typeface="Arial" panose="02080604020202020204" pitchFamily="34" charset="0"/>
              <a:buChar char="•"/>
            </a:pPr>
            <a:r>
              <a:rPr lang="pt-BR" sz="1800" b="1" i="0" u="none" strike="noStrike" dirty="0">
                <a:effectLst/>
                <a:latin typeface="Ubuntu Thin" panose="020B0304030602030204" charset="0"/>
                <a:cs typeface="Ubuntu Thin" panose="020B0304030602030204" charset="0"/>
              </a:rPr>
              <a:t> </a:t>
            </a:r>
            <a:r>
              <a:rPr lang="pt-PT" altLang="pt-BR" sz="1800" b="1" i="0" u="none" strike="noStrike" dirty="0">
                <a:effectLst/>
                <a:latin typeface="Ubuntu Thin" panose="020B0304030602030204" charset="0"/>
                <a:cs typeface="Ubuntu Thin" panose="020B0304030602030204" charset="0"/>
              </a:rPr>
              <a:t>Para utilizar os módulos criados e publicados o npm é necessário criar um no novo projeto no node js.</a:t>
            </a:r>
          </a:p>
          <a:p>
            <a:pPr>
              <a:lnSpc>
                <a:spcPct val="150000"/>
              </a:lnSpc>
              <a:buFont typeface="Arial" panose="02080604020202020204" pitchFamily="34" charset="0"/>
              <a:buChar char="•"/>
            </a:pPr>
            <a:endParaRPr lang="pt-PT" sz="1275" b="1" i="0" dirty="0">
              <a:effectLst/>
              <a:latin typeface="Ubuntu Thin" panose="020B0304030602030204" charset="0"/>
              <a:cs typeface="Ubuntu Thin" panose="020B0304030602030204" charset="0"/>
            </a:endParaRPr>
          </a:p>
        </p:txBody>
      </p:sp>
      <p:sp>
        <p:nvSpPr>
          <p:cNvPr id="6" name="Text Box 5"/>
          <p:cNvSpPr txBox="1"/>
          <p:nvPr/>
        </p:nvSpPr>
        <p:spPr>
          <a:xfrm>
            <a:off x="6397625" y="2090420"/>
            <a:ext cx="5107940" cy="1337945"/>
          </a:xfrm>
          <a:prstGeom prst="rect">
            <a:avLst/>
          </a:prstGeom>
          <a:noFill/>
        </p:spPr>
        <p:txBody>
          <a:bodyPr wrap="square" rtlCol="0" anchor="t">
            <a:spAutoFit/>
          </a:bodyPr>
          <a:lstStyle/>
          <a:p>
            <a:pPr algn="l">
              <a:lnSpc>
                <a:spcPct val="150000"/>
              </a:lnSpc>
              <a:buFont typeface="Arial" panose="02080604020202020204" pitchFamily="34" charset="0"/>
              <a:buChar char="•"/>
            </a:pPr>
            <a:r>
              <a:rPr lang="pt-PT" b="1" dirty="0">
                <a:effectLst/>
                <a:latin typeface="Ubuntu Thin" panose="020B0304030602030204" charset="0"/>
                <a:cs typeface="Ubuntu Thin" panose="020B0304030602030204" charset="0"/>
                <a:sym typeface="+mn-ea"/>
              </a:rPr>
              <a:t>Iremos contiunar a estudar node js criando uma primeira aplicação de servidor.</a:t>
            </a:r>
          </a:p>
          <a:p>
            <a:pPr algn="l">
              <a:lnSpc>
                <a:spcPct val="150000"/>
              </a:lnSpc>
              <a:buFont typeface="Arial" panose="02080604020202020204" pitchFamily="34" charset="0"/>
              <a:buChar char="•"/>
            </a:pPr>
            <a:r>
              <a:rPr lang="pt-PT" b="1" dirty="0">
                <a:effectLst/>
                <a:latin typeface="Ubuntu Thin" panose="020B0304030602030204" charset="0"/>
                <a:cs typeface="Ubuntu Thin" panose="020B0304030602030204" charset="0"/>
                <a:sym typeface="+mn-ea"/>
              </a:rPr>
              <a:t>Veja como ficou nosso código no próximo slide</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4559425" cy="3979585"/>
          </a:xfrm>
        </p:spPr>
        <p:txBody>
          <a:bodyPr anchor="ctr">
            <a:normAutofit/>
          </a:bodyPr>
          <a:lstStyle/>
          <a:p>
            <a:pPr>
              <a:lnSpc>
                <a:spcPct val="150000"/>
              </a:lnSpc>
            </a:pPr>
            <a:r>
              <a:rPr lang="pt-BR" sz="2100" b="1" i="0" u="none" strike="noStrike" dirty="0">
                <a:effectLst/>
                <a:latin typeface="Ubuntu Thin" panose="020B0304030602030204" charset="0"/>
                <a:cs typeface="Ubuntu Thin" panose="020B0304030602030204" charset="0"/>
              </a:rPr>
              <a:t> </a:t>
            </a:r>
            <a:r>
              <a:rPr lang="pt-PT" altLang="pt-BR" sz="2100" b="1" i="0" u="none" strike="noStrike" dirty="0" err="1">
                <a:effectLst/>
                <a:latin typeface="Ubuntu Thin" panose="020B0304030602030204" charset="0"/>
                <a:cs typeface="Ubuntu Thin" panose="020B0304030602030204" charset="0"/>
              </a:rPr>
              <a:t>Primeira Aplicação:</a:t>
            </a:r>
          </a:p>
          <a:p>
            <a:pPr marL="0" indent="0">
              <a:lnSpc>
                <a:spcPct val="150000"/>
              </a:lnSpc>
              <a:buNone/>
            </a:pPr>
            <a:r>
              <a:rPr lang="pt-BR" sz="1800" b="0" i="0" dirty="0">
                <a:solidFill>
                  <a:srgbClr val="000000"/>
                </a:solidFill>
                <a:effectLst/>
                <a:latin typeface="Ubuntu Thin" panose="020B0304030602030204" charset="0"/>
                <a:cs typeface="Ubuntu Thin" panose="020B0304030602030204" charset="0"/>
              </a:rPr>
              <a:t>Antes de criar nosso primeiro exemplo de aplicativo usando Node.js, vamos ver os componentes de um aplicativo Node.js. Um aplicativo Node.js consiste nos três componentes importantes a seguir :</a:t>
            </a:r>
            <a:endParaRPr lang="pt-BR" sz="1800" b="0" i="0" dirty="0">
              <a:effectLst/>
              <a:latin typeface="Ubuntu Thin" panose="020B0304030602030204" charset="0"/>
              <a:cs typeface="Ubuntu Thin" panose="020B0304030602030204" charset="0"/>
            </a:endParaRPr>
          </a:p>
        </p:txBody>
      </p:sp>
      <p:sp>
        <p:nvSpPr>
          <p:cNvPr id="13" name="Espaço Reservado para Conteúdo 2"/>
          <p:cNvSpPr txBox="1"/>
          <p:nvPr/>
        </p:nvSpPr>
        <p:spPr>
          <a:xfrm>
            <a:off x="6041006" y="768096"/>
            <a:ext cx="5485909" cy="5435811"/>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just">
              <a:lnSpc>
                <a:spcPct val="150000"/>
              </a:lnSpc>
              <a:buFont typeface="Arial" panose="02080604020202020204" pitchFamily="34" charset="0"/>
              <a:buChar char="•"/>
            </a:pPr>
            <a:r>
              <a:rPr lang="pt-BR" sz="2000" b="1" i="0" dirty="0">
                <a:solidFill>
                  <a:srgbClr val="000000"/>
                </a:solidFill>
                <a:effectLst/>
                <a:latin typeface="Ubuntu Thin" panose="020B0304030602030204" charset="0"/>
                <a:cs typeface="Ubuntu Thin" panose="020B0304030602030204" charset="0"/>
              </a:rPr>
              <a:t>Importar módulos necessários</a:t>
            </a:r>
            <a:r>
              <a:rPr lang="pt-BR" sz="2000" b="0" i="0" dirty="0">
                <a:solidFill>
                  <a:srgbClr val="000000"/>
                </a:solidFill>
                <a:effectLst/>
                <a:latin typeface="Ubuntu Thin" panose="020B0304030602030204" charset="0"/>
                <a:cs typeface="Ubuntu Thin" panose="020B0304030602030204" charset="0"/>
              </a:rPr>
              <a:t> - usamos a diretiva </a:t>
            </a:r>
            <a:r>
              <a:rPr lang="pt-BR" sz="2000" b="1" i="0" dirty="0" err="1">
                <a:solidFill>
                  <a:srgbClr val="000000"/>
                </a:solidFill>
                <a:effectLst/>
                <a:latin typeface="Ubuntu Thin" panose="020B0304030602030204" charset="0"/>
                <a:cs typeface="Ubuntu Thin" panose="020B0304030602030204" charset="0"/>
              </a:rPr>
              <a:t>require</a:t>
            </a:r>
            <a:r>
              <a:rPr lang="pt-BR" sz="2000" b="0" i="0" dirty="0">
                <a:solidFill>
                  <a:srgbClr val="000000"/>
                </a:solidFill>
                <a:effectLst/>
                <a:latin typeface="Ubuntu Thin" panose="020B0304030602030204" charset="0"/>
                <a:cs typeface="Ubuntu Thin" panose="020B0304030602030204" charset="0"/>
              </a:rPr>
              <a:t> para carregar módulos Node.js.</a:t>
            </a:r>
          </a:p>
          <a:p>
            <a:pPr algn="just">
              <a:lnSpc>
                <a:spcPct val="150000"/>
              </a:lnSpc>
              <a:buFont typeface="Arial" panose="02080604020202020204" pitchFamily="34" charset="0"/>
              <a:buChar char="•"/>
            </a:pPr>
            <a:r>
              <a:rPr lang="pt-BR" sz="2000" b="1" i="0" dirty="0">
                <a:solidFill>
                  <a:srgbClr val="000000"/>
                </a:solidFill>
                <a:effectLst/>
                <a:latin typeface="Ubuntu Thin" panose="020B0304030602030204" charset="0"/>
                <a:cs typeface="Ubuntu Thin" panose="020B0304030602030204" charset="0"/>
              </a:rPr>
              <a:t>Criar servidor</a:t>
            </a:r>
            <a:r>
              <a:rPr lang="pt-BR" sz="2000" b="0" i="0" dirty="0">
                <a:solidFill>
                  <a:srgbClr val="000000"/>
                </a:solidFill>
                <a:effectLst/>
                <a:latin typeface="Ubuntu Thin" panose="020B0304030602030204" charset="0"/>
                <a:cs typeface="Ubuntu Thin" panose="020B0304030602030204" charset="0"/>
              </a:rPr>
              <a:t> - um servidor que ouvirá as solicitações do cliente, semelhante ao servidor HTTP Apache.</a:t>
            </a:r>
          </a:p>
          <a:p>
            <a:pPr algn="just">
              <a:lnSpc>
                <a:spcPct val="150000"/>
              </a:lnSpc>
              <a:buFont typeface="Arial" panose="02080604020202020204" pitchFamily="34" charset="0"/>
              <a:buChar char="•"/>
            </a:pPr>
            <a:r>
              <a:rPr lang="pt-BR" sz="2000" b="1" i="0" dirty="0">
                <a:solidFill>
                  <a:srgbClr val="000000"/>
                </a:solidFill>
                <a:effectLst/>
                <a:latin typeface="Ubuntu Thin" panose="020B0304030602030204" charset="0"/>
                <a:cs typeface="Ubuntu Thin" panose="020B0304030602030204" charset="0"/>
              </a:rPr>
              <a:t>Solicitação de leitura e resposta de retorno</a:t>
            </a:r>
            <a:r>
              <a:rPr lang="pt-BR" sz="2000" b="0" i="0" dirty="0">
                <a:solidFill>
                  <a:srgbClr val="000000"/>
                </a:solidFill>
                <a:effectLst/>
                <a:latin typeface="Ubuntu Thin" panose="020B0304030602030204" charset="0"/>
                <a:cs typeface="Ubuntu Thin" panose="020B0304030602030204" charset="0"/>
              </a:rPr>
              <a:t> - O servidor criado em uma etapa anterior lerá a solicitação HTTP feita pelo cliente, que pode ser um navegador ou um console, e retornará a resposta.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4559425" cy="3979585"/>
          </a:xfrm>
        </p:spPr>
        <p:txBody>
          <a:bodyPr anchor="ctr">
            <a:normAutofit/>
          </a:bodyPr>
          <a:lstStyle/>
          <a:p>
            <a:pPr>
              <a:lnSpc>
                <a:spcPct val="150000"/>
              </a:lnSpc>
            </a:pPr>
            <a:r>
              <a:rPr lang="pt-BR" sz="1800" b="1" i="0" u="none" strike="noStrike" dirty="0">
                <a:effectLst/>
                <a:latin typeface="Ubuntu Thin" panose="020B0304030602030204" charset="0"/>
                <a:cs typeface="Ubuntu Thin" panose="020B0304030602030204" charset="0"/>
              </a:rPr>
              <a:t> </a:t>
            </a:r>
            <a:r>
              <a:rPr lang="pt-BR" sz="1800" b="1" i="0" dirty="0">
                <a:effectLst/>
                <a:latin typeface="Ubuntu Thin" panose="020B0304030602030204" charset="0"/>
                <a:cs typeface="Ubuntu Thin" panose="020B0304030602030204" charset="0"/>
              </a:rPr>
              <a:t>Criação de aplicativo Node.js</a:t>
            </a:r>
            <a:endParaRPr lang="pt-BR" sz="1800" b="1" i="0" u="none" strike="noStrike" dirty="0">
              <a:effectLst/>
              <a:latin typeface="Ubuntu Thin" panose="020B0304030602030204" charset="0"/>
              <a:cs typeface="Ubuntu Thin" panose="020B0304030602030204" charset="0"/>
            </a:endParaRPr>
          </a:p>
          <a:p>
            <a:pPr algn="l">
              <a:lnSpc>
                <a:spcPct val="150000"/>
              </a:lnSpc>
            </a:pPr>
            <a:r>
              <a:rPr lang="pt-BR" sz="1600" b="0" i="0" dirty="0">
                <a:effectLst/>
                <a:latin typeface="Ubuntu Thin" panose="020B0304030602030204" charset="0"/>
                <a:cs typeface="Ubuntu Thin" panose="020B0304030602030204" charset="0"/>
              </a:rPr>
              <a:t>Etapa 1 - Importar Módulo Requerido</a:t>
            </a:r>
          </a:p>
          <a:p>
            <a:pPr algn="just">
              <a:lnSpc>
                <a:spcPct val="150000"/>
              </a:lnSpc>
            </a:pPr>
            <a:r>
              <a:rPr lang="pt-BR" sz="1600" b="0" i="0" dirty="0">
                <a:solidFill>
                  <a:srgbClr val="000000"/>
                </a:solidFill>
                <a:effectLst/>
                <a:latin typeface="Ubuntu Thin" panose="020B0304030602030204" charset="0"/>
                <a:cs typeface="Ubuntu Thin" panose="020B0304030602030204" charset="0"/>
              </a:rPr>
              <a:t>Usamos a diretiva </a:t>
            </a:r>
            <a:r>
              <a:rPr lang="pt-BR" sz="1600" b="1" i="0" dirty="0" err="1">
                <a:solidFill>
                  <a:srgbClr val="000000"/>
                </a:solidFill>
                <a:effectLst/>
                <a:latin typeface="Ubuntu Thin" panose="020B0304030602030204" charset="0"/>
                <a:cs typeface="Ubuntu Thin" panose="020B0304030602030204" charset="0"/>
              </a:rPr>
              <a:t>require</a:t>
            </a:r>
            <a:r>
              <a:rPr lang="pt-BR" sz="1600" b="0" i="0" dirty="0">
                <a:solidFill>
                  <a:srgbClr val="000000"/>
                </a:solidFill>
                <a:effectLst/>
                <a:latin typeface="Ubuntu Thin" panose="020B0304030602030204" charset="0"/>
                <a:cs typeface="Ubuntu Thin" panose="020B0304030602030204" charset="0"/>
              </a:rPr>
              <a:t> para carregar o módulo http e armazenar a instância HTTP retornada em uma variável http da seguinte maneira:</a:t>
            </a:r>
          </a:p>
          <a:p>
            <a:pPr algn="just">
              <a:lnSpc>
                <a:spcPct val="150000"/>
              </a:lnSpc>
            </a:pPr>
            <a:r>
              <a:rPr lang="pt-BR" sz="1600" dirty="0">
                <a:solidFill>
                  <a:srgbClr val="000000"/>
                </a:solidFill>
                <a:latin typeface="Ubuntu Thin" panose="020B0304030602030204" charset="0"/>
                <a:cs typeface="Ubuntu Thin" panose="020B0304030602030204" charset="0"/>
              </a:rPr>
              <a:t>var http = </a:t>
            </a:r>
            <a:r>
              <a:rPr lang="pt-BR" sz="1600" dirty="0" err="1">
                <a:solidFill>
                  <a:srgbClr val="000000"/>
                </a:solidFill>
                <a:latin typeface="Ubuntu Thin" panose="020B0304030602030204" charset="0"/>
                <a:cs typeface="Ubuntu Thin" panose="020B0304030602030204" charset="0"/>
              </a:rPr>
              <a:t>require</a:t>
            </a:r>
            <a:r>
              <a:rPr lang="pt-BR" sz="1600" dirty="0">
                <a:solidFill>
                  <a:srgbClr val="000000"/>
                </a:solidFill>
                <a:latin typeface="Ubuntu Thin" panose="020B0304030602030204" charset="0"/>
                <a:cs typeface="Ubuntu Thin" panose="020B0304030602030204" charset="0"/>
              </a:rPr>
              <a:t>(“http”)</a:t>
            </a:r>
            <a:endParaRPr lang="pt-BR" sz="1600" b="0" i="0" dirty="0">
              <a:solidFill>
                <a:srgbClr val="000000"/>
              </a:solidFill>
              <a:effectLst/>
              <a:latin typeface="Ubuntu Thin" panose="020B0304030602030204" charset="0"/>
              <a:cs typeface="Ubuntu Thin" panose="020B0304030602030204" charset="0"/>
            </a:endParaRPr>
          </a:p>
        </p:txBody>
      </p:sp>
      <p:sp>
        <p:nvSpPr>
          <p:cNvPr id="13" name="Espaço Reservado para Conteúdo 2"/>
          <p:cNvSpPr txBox="1"/>
          <p:nvPr/>
        </p:nvSpPr>
        <p:spPr>
          <a:xfrm>
            <a:off x="6041006" y="768096"/>
            <a:ext cx="5485909" cy="5435811"/>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l">
              <a:lnSpc>
                <a:spcPct val="150000"/>
              </a:lnSpc>
            </a:pPr>
            <a:r>
              <a:rPr lang="pt-BR" sz="1600" b="1" i="0" dirty="0">
                <a:effectLst/>
                <a:latin typeface="Ubuntu Thin" panose="020B0304030602030204" charset="0"/>
                <a:cs typeface="Ubuntu Thin" panose="020B0304030602030204" charset="0"/>
              </a:rPr>
              <a:t>Etapa 2 - Criar Servidor</a:t>
            </a:r>
          </a:p>
          <a:p>
            <a:pPr algn="just">
              <a:lnSpc>
                <a:spcPct val="150000"/>
              </a:lnSpc>
            </a:pPr>
            <a:r>
              <a:rPr lang="pt-BR" sz="1600" b="0" i="0" dirty="0">
                <a:solidFill>
                  <a:srgbClr val="000000"/>
                </a:solidFill>
                <a:effectLst/>
                <a:latin typeface="Ubuntu Thin" panose="020B0304030602030204" charset="0"/>
                <a:cs typeface="Ubuntu Thin" panose="020B0304030602030204" charset="0"/>
              </a:rPr>
              <a:t>Usamos a instância http criada e chamamos o método </a:t>
            </a:r>
            <a:r>
              <a:rPr lang="pt-BR" sz="1600" b="1" i="0" dirty="0" err="1">
                <a:solidFill>
                  <a:srgbClr val="000000"/>
                </a:solidFill>
                <a:effectLst/>
                <a:latin typeface="Ubuntu Thin" panose="020B0304030602030204" charset="0"/>
                <a:cs typeface="Ubuntu Thin" panose="020B0304030602030204" charset="0"/>
              </a:rPr>
              <a:t>http.createServer</a:t>
            </a:r>
            <a:r>
              <a:rPr lang="pt-BR" sz="1600" b="1" i="0" dirty="0">
                <a:solidFill>
                  <a:srgbClr val="000000"/>
                </a:solidFill>
                <a:effectLst/>
                <a:latin typeface="Ubuntu Thin" panose="020B0304030602030204" charset="0"/>
                <a:cs typeface="Ubuntu Thin" panose="020B0304030602030204" charset="0"/>
              </a:rPr>
              <a:t> ()</a:t>
            </a:r>
            <a:r>
              <a:rPr lang="pt-BR" sz="1600" b="0" i="0" dirty="0">
                <a:solidFill>
                  <a:srgbClr val="000000"/>
                </a:solidFill>
                <a:effectLst/>
                <a:latin typeface="Ubuntu Thin" panose="020B0304030602030204" charset="0"/>
                <a:cs typeface="Ubuntu Thin" panose="020B0304030602030204" charset="0"/>
              </a:rPr>
              <a:t> para criar uma instância do servidor e, em seguida, vinculamos na porta 8081 usando o método </a:t>
            </a:r>
            <a:r>
              <a:rPr lang="pt-BR" sz="1600" b="1" i="0" dirty="0" err="1">
                <a:solidFill>
                  <a:srgbClr val="000000"/>
                </a:solidFill>
                <a:effectLst/>
                <a:latin typeface="Ubuntu Thin" panose="020B0304030602030204" charset="0"/>
                <a:cs typeface="Ubuntu Thin" panose="020B0304030602030204" charset="0"/>
              </a:rPr>
              <a:t>listen</a:t>
            </a:r>
            <a:r>
              <a:rPr lang="pt-BR" sz="1600" b="0" i="0" dirty="0">
                <a:solidFill>
                  <a:srgbClr val="000000"/>
                </a:solidFill>
                <a:effectLst/>
                <a:latin typeface="Ubuntu Thin" panose="020B0304030602030204" charset="0"/>
                <a:cs typeface="Ubuntu Thin" panose="020B0304030602030204" charset="0"/>
              </a:rPr>
              <a:t> associado à instância do servidor. Passe uma função com os parâmetros de solicitação e resposta. Escreva a implementação de amostra para sempre retornar “Meu Primeiro App em Node JS".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87363" y="2304603"/>
            <a:ext cx="3445764" cy="4329948"/>
          </a:xfrm>
        </p:spPr>
        <p:txBody>
          <a:bodyPr anchor="ctr">
            <a:normAutofit/>
          </a:bodyPr>
          <a:lstStyle/>
          <a:p>
            <a:pPr>
              <a:lnSpc>
                <a:spcPct val="150000"/>
              </a:lnSpc>
            </a:pPr>
            <a:r>
              <a:rPr lang="pt-BR" sz="1800" b="1" i="0" u="none" strike="noStrike" dirty="0">
                <a:effectLst/>
                <a:latin typeface="Ubuntu Thin" panose="020B0304030602030204" charset="0"/>
                <a:cs typeface="Ubuntu Thin" panose="020B0304030602030204" charset="0"/>
              </a:rPr>
              <a:t> </a:t>
            </a:r>
            <a:r>
              <a:rPr lang="pt-BR" sz="1800" b="1" i="0" dirty="0">
                <a:effectLst/>
                <a:latin typeface="Ubuntu Thin" panose="020B0304030602030204" charset="0"/>
                <a:cs typeface="Ubuntu Thin" panose="020B0304030602030204" charset="0"/>
              </a:rPr>
              <a:t>Criação de aplicativo Node.js</a:t>
            </a:r>
            <a:endParaRPr lang="pt-BR" sz="1800" b="1" i="0" u="none" strike="noStrike" dirty="0">
              <a:effectLst/>
              <a:latin typeface="Ubuntu Thin" panose="020B0304030602030204" charset="0"/>
              <a:cs typeface="Ubuntu Thin" panose="020B0304030602030204" charset="0"/>
            </a:endParaRPr>
          </a:p>
          <a:p>
            <a:pPr algn="l">
              <a:lnSpc>
                <a:spcPct val="150000"/>
              </a:lnSpc>
            </a:pPr>
            <a:r>
              <a:rPr lang="pt-BR" sz="1600" b="0" i="0" dirty="0">
                <a:effectLst/>
                <a:latin typeface="Ubuntu Thin" panose="020B0304030602030204" charset="0"/>
                <a:cs typeface="Ubuntu Thin" panose="020B0304030602030204" charset="0"/>
              </a:rPr>
              <a:t>Veja a estrutura de todo o código:</a:t>
            </a:r>
            <a:endParaRPr lang="pt-BR" sz="1600" dirty="0">
              <a:latin typeface="Ubuntu Thin" panose="020B0304030602030204" charset="0"/>
              <a:cs typeface="Ubuntu Thin" panose="020B0304030602030204" charset="0"/>
            </a:endParaRPr>
          </a:p>
          <a:p>
            <a:pPr marL="0" indent="0" algn="l">
              <a:lnSpc>
                <a:spcPct val="150000"/>
              </a:lnSpc>
              <a:buNone/>
            </a:pPr>
            <a:endParaRPr lang="pt-BR" sz="1600" b="0" i="0" dirty="0">
              <a:effectLst/>
              <a:latin typeface="Ubuntu Thin" panose="020B0304030602030204" charset="0"/>
              <a:cs typeface="Ubuntu Thin" panose="020B0304030602030204" charset="0"/>
            </a:endParaRPr>
          </a:p>
        </p:txBody>
      </p:sp>
      <p:pic>
        <p:nvPicPr>
          <p:cNvPr id="8" name="Imagem 7"/>
          <p:cNvPicPr>
            <a:picLocks noChangeAspect="1"/>
          </p:cNvPicPr>
          <p:nvPr/>
        </p:nvPicPr>
        <p:blipFill>
          <a:blip r:embed="rId3"/>
          <a:stretch>
            <a:fillRect/>
          </a:stretch>
        </p:blipFill>
        <p:spPr>
          <a:xfrm>
            <a:off x="3418449" y="113721"/>
            <a:ext cx="8837178" cy="623042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87363" y="2323018"/>
            <a:ext cx="3445764" cy="4329948"/>
          </a:xfrm>
        </p:spPr>
        <p:txBody>
          <a:bodyPr anchor="ctr">
            <a:normAutofit/>
          </a:bodyPr>
          <a:lstStyle/>
          <a:p>
            <a:pPr>
              <a:lnSpc>
                <a:spcPct val="150000"/>
              </a:lnSpc>
            </a:pPr>
            <a:r>
              <a:rPr lang="pt-BR" sz="1800" b="1" i="0" u="none" strike="noStrike" dirty="0">
                <a:effectLst/>
                <a:latin typeface="Ubuntu Thin" panose="020B0304030602030204" charset="0"/>
                <a:cs typeface="Ubuntu Thin" panose="020B0304030602030204" charset="0"/>
              </a:rPr>
              <a:t> </a:t>
            </a:r>
            <a:r>
              <a:rPr lang="pt-BR" sz="1800" b="1" i="0" dirty="0">
                <a:effectLst/>
                <a:latin typeface="Ubuntu Thin" panose="020B0304030602030204" charset="0"/>
                <a:cs typeface="Ubuntu Thin" panose="020B0304030602030204" charset="0"/>
              </a:rPr>
              <a:t>Criação de aplicativo Node.js</a:t>
            </a:r>
            <a:endParaRPr lang="pt-BR" sz="1800" b="1" i="0" u="none" strike="noStrike" dirty="0">
              <a:effectLst/>
              <a:latin typeface="Ubuntu Thin" panose="020B0304030602030204" charset="0"/>
              <a:cs typeface="Ubuntu Thin" panose="020B0304030602030204" charset="0"/>
            </a:endParaRPr>
          </a:p>
          <a:p>
            <a:pPr algn="l">
              <a:lnSpc>
                <a:spcPct val="150000"/>
              </a:lnSpc>
            </a:pPr>
            <a:r>
              <a:rPr lang="pt-BR" sz="1600" b="0" i="0" dirty="0">
                <a:effectLst/>
                <a:latin typeface="Ubuntu Thin" panose="020B0304030602030204" charset="0"/>
                <a:cs typeface="Ubuntu Thin" panose="020B0304030602030204" charset="0"/>
              </a:rPr>
              <a:t>Testar a aplicação</a:t>
            </a:r>
            <a:endParaRPr lang="pt-BR" sz="1600" dirty="0">
              <a:latin typeface="Ubuntu Thin" panose="020B0304030602030204" charset="0"/>
              <a:cs typeface="Ubuntu Thin" panose="020B0304030602030204" charset="0"/>
            </a:endParaRPr>
          </a:p>
          <a:p>
            <a:pPr marL="0" indent="0" algn="l">
              <a:lnSpc>
                <a:spcPct val="150000"/>
              </a:lnSpc>
              <a:buNone/>
            </a:pPr>
            <a:endParaRPr lang="pt-BR" sz="1600" b="0" i="0" dirty="0">
              <a:effectLst/>
              <a:latin typeface="Ubuntu Thin" panose="020B0304030602030204" charset="0"/>
              <a:cs typeface="Ubuntu Thin" panose="020B0304030602030204" charset="0"/>
            </a:endParaRPr>
          </a:p>
        </p:txBody>
      </p:sp>
      <p:sp>
        <p:nvSpPr>
          <p:cNvPr id="13" name="Espaço Reservado para Conteúdo 2"/>
          <p:cNvSpPr txBox="1"/>
          <p:nvPr/>
        </p:nvSpPr>
        <p:spPr>
          <a:xfrm>
            <a:off x="5873189" y="126391"/>
            <a:ext cx="4824480" cy="4329948"/>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nSpc>
                <a:spcPct val="150000"/>
              </a:lnSpc>
            </a:pPr>
            <a:r>
              <a:rPr lang="pt-BR" sz="1800" dirty="0">
                <a:latin typeface="Ubuntu Thin" panose="020B0304030602030204" charset="0"/>
                <a:cs typeface="Ubuntu Thin" panose="020B0304030602030204" charset="0"/>
              </a:rPr>
              <a:t>Para testar a aplicação você deve ir ao terminal e fazer o seguinte procedimento:</a:t>
            </a:r>
          </a:p>
          <a:p>
            <a:pPr marL="0" indent="0">
              <a:lnSpc>
                <a:spcPct val="150000"/>
              </a:lnSpc>
              <a:buNone/>
            </a:pPr>
            <a:endParaRPr lang="pt-BR" sz="1800" dirty="0">
              <a:latin typeface="Ubuntu Thin" panose="020B0304030602030204" charset="0"/>
              <a:cs typeface="Ubuntu Thin" panose="020B0304030602030204" charset="0"/>
            </a:endParaRPr>
          </a:p>
          <a:p>
            <a:pPr marL="0" indent="0">
              <a:lnSpc>
                <a:spcPct val="150000"/>
              </a:lnSpc>
              <a:buNone/>
            </a:pPr>
            <a:r>
              <a:rPr lang="pt-BR" sz="1800" dirty="0">
                <a:latin typeface="Ubuntu Thin" panose="020B0304030602030204" charset="0"/>
                <a:cs typeface="Ubuntu Thin" panose="020B0304030602030204" charset="0"/>
              </a:rPr>
              <a:t>node </a:t>
            </a:r>
            <a:r>
              <a:rPr lang="pt-BR" sz="1800" dirty="0">
                <a:solidFill>
                  <a:srgbClr val="C00000"/>
                </a:solidFill>
                <a:latin typeface="Ubuntu Thin" panose="020B0304030602030204" charset="0"/>
                <a:cs typeface="Ubuntu Thin" panose="020B0304030602030204" charset="0"/>
              </a:rPr>
              <a:t>nomedoarquivo.js</a:t>
            </a:r>
            <a:r>
              <a:rPr lang="pt-BR" sz="1800" dirty="0">
                <a:latin typeface="Ubuntu Thin" panose="020B0304030602030204" charset="0"/>
                <a:cs typeface="Ubuntu Thin" panose="020B0304030602030204" charset="0"/>
              </a:rPr>
              <a:t> e apertar o </a:t>
            </a:r>
            <a:r>
              <a:rPr lang="pt-BR" sz="1800" dirty="0" err="1">
                <a:latin typeface="Ubuntu Thin" panose="020B0304030602030204" charset="0"/>
                <a:cs typeface="Ubuntu Thin" panose="020B0304030602030204" charset="0"/>
              </a:rPr>
              <a:t>Enter</a:t>
            </a:r>
            <a:endParaRPr lang="pt-BR" sz="1800" dirty="0">
              <a:latin typeface="Ubuntu Thin" panose="020B0304030602030204" charset="0"/>
              <a:cs typeface="Ubuntu Thin" panose="020B0304030602030204" charset="0"/>
            </a:endParaRPr>
          </a:p>
          <a:p>
            <a:pPr marL="0" indent="0">
              <a:lnSpc>
                <a:spcPct val="150000"/>
              </a:lnSpc>
              <a:buNone/>
            </a:pPr>
            <a:r>
              <a:rPr lang="pt-BR" sz="1800" dirty="0">
                <a:latin typeface="Ubuntu Thin" panose="020B0304030602030204" charset="0"/>
                <a:cs typeface="Ubuntu Thin" panose="020B0304030602030204" charset="0"/>
              </a:rPr>
              <a:t>Depois vá ao navegador e digite:</a:t>
            </a:r>
          </a:p>
          <a:p>
            <a:pPr marL="0" indent="0">
              <a:lnSpc>
                <a:spcPct val="150000"/>
              </a:lnSpc>
              <a:buNone/>
            </a:pPr>
            <a:r>
              <a:rPr lang="pt-BR" sz="1800" dirty="0">
                <a:latin typeface="Ubuntu Thin" panose="020B0304030602030204" charset="0"/>
                <a:cs typeface="Ubuntu Thin" panose="020B0304030602030204" charset="0"/>
                <a:hlinkClick r:id="rId3"/>
              </a:rPr>
              <a:t>http://localhost:8081</a:t>
            </a:r>
            <a:r>
              <a:rPr lang="pt-BR" sz="1800" dirty="0">
                <a:latin typeface="Ubuntu Thin" panose="020B0304030602030204" charset="0"/>
                <a:cs typeface="Ubuntu Thin" panose="020B0304030602030204" charset="0"/>
              </a:rPr>
              <a:t> e aperte o </a:t>
            </a:r>
            <a:r>
              <a:rPr lang="pt-BR" sz="1800" dirty="0" err="1">
                <a:latin typeface="Ubuntu Thin" panose="020B0304030602030204" charset="0"/>
                <a:cs typeface="Ubuntu Thin" panose="020B0304030602030204" charset="0"/>
              </a:rPr>
              <a:t>enter</a:t>
            </a:r>
            <a:r>
              <a:rPr lang="pt-BR" sz="1800" dirty="0">
                <a:latin typeface="Ubuntu Thin" panose="020B0304030602030204" charset="0"/>
                <a:cs typeface="Ubuntu Thin" panose="020B0304030602030204" charset="0"/>
              </a:rPr>
              <a:t>. Veja a resposta:</a:t>
            </a:r>
            <a:endParaRPr lang="pt-BR" sz="1600" dirty="0">
              <a:latin typeface="Ubuntu Thin" panose="020B0304030602030204" charset="0"/>
              <a:cs typeface="Ubuntu Thin" panose="020B0304030602030204" charset="0"/>
            </a:endParaRPr>
          </a:p>
          <a:p>
            <a:pPr marL="0" indent="0">
              <a:lnSpc>
                <a:spcPct val="150000"/>
              </a:lnSpc>
              <a:buFont typeface="Arial" panose="02080604020202020204" pitchFamily="34" charset="0"/>
              <a:buNone/>
            </a:pPr>
            <a:endParaRPr lang="pt-BR" sz="1600" dirty="0">
              <a:latin typeface="Ubuntu Thin" panose="020B0304030602030204" charset="0"/>
              <a:cs typeface="Ubuntu Thin" panose="020B0304030602030204" charset="0"/>
            </a:endParaRPr>
          </a:p>
        </p:txBody>
      </p:sp>
      <p:pic>
        <p:nvPicPr>
          <p:cNvPr id="4" name="Imagem 3"/>
          <p:cNvPicPr>
            <a:picLocks noChangeAspect="1"/>
          </p:cNvPicPr>
          <p:nvPr/>
        </p:nvPicPr>
        <p:blipFill rotWithShape="1">
          <a:blip r:embed="rId4"/>
          <a:srcRect b="50674"/>
          <a:stretch>
            <a:fillRect/>
          </a:stretch>
        </p:blipFill>
        <p:spPr>
          <a:xfrm>
            <a:off x="5868494" y="3991500"/>
            <a:ext cx="5396567" cy="185861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4559425" cy="3979585"/>
          </a:xfrm>
        </p:spPr>
        <p:txBody>
          <a:bodyPr anchor="ctr">
            <a:normAutofit/>
          </a:bodyPr>
          <a:lstStyle/>
          <a:p>
            <a:pPr>
              <a:lnSpc>
                <a:spcPct val="150000"/>
              </a:lnSpc>
            </a:pPr>
            <a:r>
              <a:rPr lang="pt-BR" sz="1800" b="1" i="0" u="none" strike="noStrike" dirty="0">
                <a:effectLst/>
                <a:latin typeface="Ubuntu Thin" panose="020B0304030602030204" charset="0"/>
                <a:cs typeface="Ubuntu Thin" panose="020B0304030602030204" charset="0"/>
              </a:rPr>
              <a:t>REPL Terminal</a:t>
            </a:r>
            <a:endParaRPr lang="pt-BR" sz="1600" b="1" i="0" u="none" strike="noStrike" dirty="0">
              <a:effectLst/>
              <a:latin typeface="Ubuntu Thin" panose="020B0304030602030204" charset="0"/>
              <a:cs typeface="Ubuntu Thin" panose="020B0304030602030204" charset="0"/>
            </a:endParaRPr>
          </a:p>
          <a:p>
            <a:pPr algn="just">
              <a:lnSpc>
                <a:spcPct val="150000"/>
              </a:lnSpc>
            </a:pPr>
            <a:r>
              <a:rPr lang="pt-BR" sz="1600" b="0" i="0" dirty="0">
                <a:solidFill>
                  <a:srgbClr val="000000"/>
                </a:solidFill>
                <a:effectLst/>
                <a:latin typeface="Ubuntu Thin" panose="020B0304030602030204" charset="0"/>
                <a:cs typeface="Ubuntu Thin" panose="020B0304030602030204" charset="0"/>
              </a:rPr>
              <a:t>REPL significa </a:t>
            </a:r>
            <a:r>
              <a:rPr lang="pt-BR" sz="1600" b="0" i="0" dirty="0" err="1">
                <a:solidFill>
                  <a:srgbClr val="000000"/>
                </a:solidFill>
                <a:effectLst/>
                <a:latin typeface="Ubuntu Thin" panose="020B0304030602030204" charset="0"/>
                <a:cs typeface="Ubuntu Thin" panose="020B0304030602030204" charset="0"/>
              </a:rPr>
              <a:t>Read</a:t>
            </a:r>
            <a:r>
              <a:rPr lang="pt-BR" sz="1600" b="0" i="0" dirty="0">
                <a:solidFill>
                  <a:srgbClr val="000000"/>
                </a:solidFill>
                <a:effectLst/>
                <a:latin typeface="Ubuntu Thin" panose="020B0304030602030204" charset="0"/>
                <a:cs typeface="Ubuntu Thin" panose="020B0304030602030204" charset="0"/>
              </a:rPr>
              <a:t> </a:t>
            </a:r>
            <a:r>
              <a:rPr lang="pt-BR" sz="1600" b="0" i="0" dirty="0" err="1">
                <a:solidFill>
                  <a:srgbClr val="000000"/>
                </a:solidFill>
                <a:effectLst/>
                <a:latin typeface="Ubuntu Thin" panose="020B0304030602030204" charset="0"/>
                <a:cs typeface="Ubuntu Thin" panose="020B0304030602030204" charset="0"/>
              </a:rPr>
              <a:t>Eval</a:t>
            </a:r>
            <a:r>
              <a:rPr lang="pt-BR" sz="1600" b="0" i="0" dirty="0">
                <a:solidFill>
                  <a:srgbClr val="000000"/>
                </a:solidFill>
                <a:effectLst/>
                <a:latin typeface="Ubuntu Thin" panose="020B0304030602030204" charset="0"/>
                <a:cs typeface="Ubuntu Thin" panose="020B0304030602030204" charset="0"/>
              </a:rPr>
              <a:t> Print Loop e representa um ambiente de computador como um console do Windows ou </a:t>
            </a:r>
            <a:r>
              <a:rPr lang="pt-BR" sz="1600" b="0" i="0" dirty="0" err="1">
                <a:solidFill>
                  <a:srgbClr val="000000"/>
                </a:solidFill>
                <a:effectLst/>
                <a:latin typeface="Ubuntu Thin" panose="020B0304030602030204" charset="0"/>
                <a:cs typeface="Ubuntu Thin" panose="020B0304030602030204" charset="0"/>
              </a:rPr>
              <a:t>shell</a:t>
            </a:r>
            <a:r>
              <a:rPr lang="pt-BR" sz="1600" b="0" i="0" dirty="0">
                <a:solidFill>
                  <a:srgbClr val="000000"/>
                </a:solidFill>
                <a:effectLst/>
                <a:latin typeface="Ubuntu Thin" panose="020B0304030602030204" charset="0"/>
                <a:cs typeface="Ubuntu Thin" panose="020B0304030602030204" charset="0"/>
              </a:rPr>
              <a:t> Unix / Linux onde um comando é inserido e o sistema responde com uma saída em um modo interativo. Node.js ou </a:t>
            </a:r>
            <a:r>
              <a:rPr lang="pt-BR" sz="1600" b="1" i="0" dirty="0">
                <a:solidFill>
                  <a:srgbClr val="000000"/>
                </a:solidFill>
                <a:effectLst/>
                <a:latin typeface="Ubuntu Thin" panose="020B0304030602030204" charset="0"/>
                <a:cs typeface="Ubuntu Thin" panose="020B0304030602030204" charset="0"/>
              </a:rPr>
              <a:t>Node</a:t>
            </a:r>
            <a:r>
              <a:rPr lang="pt-BR" sz="1600" b="0" i="0" dirty="0">
                <a:solidFill>
                  <a:srgbClr val="000000"/>
                </a:solidFill>
                <a:effectLst/>
                <a:latin typeface="Ubuntu Thin" panose="020B0304030602030204" charset="0"/>
                <a:cs typeface="Ubuntu Thin" panose="020B0304030602030204" charset="0"/>
              </a:rPr>
              <a:t> vem empacotado com um ambiente REPL. Ele executa as seguintes tarefas</a:t>
            </a:r>
            <a:endParaRPr lang="pt-BR" sz="1600" dirty="0">
              <a:solidFill>
                <a:srgbClr val="000000"/>
              </a:solidFill>
              <a:latin typeface="Ubuntu Thin" panose="020B0304030602030204" charset="0"/>
              <a:cs typeface="Ubuntu Thin" panose="020B0304030602030204" charset="0"/>
            </a:endParaRPr>
          </a:p>
        </p:txBody>
      </p:sp>
      <p:sp>
        <p:nvSpPr>
          <p:cNvPr id="13" name="Espaço Reservado para Conteúdo 2"/>
          <p:cNvSpPr txBox="1"/>
          <p:nvPr/>
        </p:nvSpPr>
        <p:spPr>
          <a:xfrm>
            <a:off x="6041006" y="856180"/>
            <a:ext cx="5561434" cy="510394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just">
              <a:lnSpc>
                <a:spcPct val="150000"/>
              </a:lnSpc>
              <a:buFont typeface="Arial" panose="02080604020202020204" pitchFamily="34" charset="0"/>
              <a:buChar char="•"/>
            </a:pPr>
            <a:r>
              <a:rPr lang="pt-BR" sz="1600" b="1" i="0" dirty="0">
                <a:solidFill>
                  <a:srgbClr val="000000"/>
                </a:solidFill>
                <a:effectLst/>
                <a:latin typeface="Ubuntu Thin" panose="020B0304030602030204" charset="0"/>
                <a:cs typeface="Ubuntu Thin" panose="020B0304030602030204" charset="0"/>
              </a:rPr>
              <a:t>Ler</a:t>
            </a:r>
            <a:r>
              <a:rPr lang="pt-BR" sz="1600" b="0" i="0" dirty="0">
                <a:solidFill>
                  <a:srgbClr val="000000"/>
                </a:solidFill>
                <a:effectLst/>
                <a:latin typeface="Ubuntu Thin" panose="020B0304030602030204" charset="0"/>
                <a:cs typeface="Ubuntu Thin" panose="020B0304030602030204" charset="0"/>
              </a:rPr>
              <a:t> - Lê a entrada do usuário, analisa a entrada na estrutura de dados </a:t>
            </a:r>
            <a:r>
              <a:rPr lang="pt-BR" sz="1600" b="0" i="0" dirty="0" err="1">
                <a:solidFill>
                  <a:srgbClr val="000000"/>
                </a:solidFill>
                <a:effectLst/>
                <a:latin typeface="Ubuntu Thin" panose="020B0304030602030204" charset="0"/>
                <a:cs typeface="Ubuntu Thin" panose="020B0304030602030204" charset="0"/>
              </a:rPr>
              <a:t>JavaScript</a:t>
            </a:r>
            <a:r>
              <a:rPr lang="pt-BR" sz="1600" b="0" i="0" dirty="0">
                <a:solidFill>
                  <a:srgbClr val="000000"/>
                </a:solidFill>
                <a:effectLst/>
                <a:latin typeface="Ubuntu Thin" panose="020B0304030602030204" charset="0"/>
                <a:cs typeface="Ubuntu Thin" panose="020B0304030602030204" charset="0"/>
              </a:rPr>
              <a:t> e armazena na memória.</a:t>
            </a:r>
          </a:p>
          <a:p>
            <a:pPr algn="just">
              <a:lnSpc>
                <a:spcPct val="150000"/>
              </a:lnSpc>
              <a:buFont typeface="Arial" panose="02080604020202020204" pitchFamily="34" charset="0"/>
              <a:buChar char="•"/>
            </a:pPr>
            <a:r>
              <a:rPr lang="pt-BR" sz="1600" b="1" i="0" dirty="0" err="1">
                <a:solidFill>
                  <a:srgbClr val="000000"/>
                </a:solidFill>
                <a:effectLst/>
                <a:latin typeface="Ubuntu Thin" panose="020B0304030602030204" charset="0"/>
                <a:cs typeface="Ubuntu Thin" panose="020B0304030602030204" charset="0"/>
              </a:rPr>
              <a:t>Eval</a:t>
            </a:r>
            <a:r>
              <a:rPr lang="pt-BR" sz="1600" b="0" i="0" dirty="0">
                <a:solidFill>
                  <a:srgbClr val="000000"/>
                </a:solidFill>
                <a:effectLst/>
                <a:latin typeface="Ubuntu Thin" panose="020B0304030602030204" charset="0"/>
                <a:cs typeface="Ubuntu Thin" panose="020B0304030602030204" charset="0"/>
              </a:rPr>
              <a:t> - pega e avalia a estrutura de dados.</a:t>
            </a:r>
          </a:p>
          <a:p>
            <a:pPr algn="just">
              <a:lnSpc>
                <a:spcPct val="150000"/>
              </a:lnSpc>
              <a:buFont typeface="Arial" panose="02080604020202020204" pitchFamily="34" charset="0"/>
              <a:buChar char="•"/>
            </a:pPr>
            <a:r>
              <a:rPr lang="pt-BR" sz="1600" b="1" i="0" dirty="0">
                <a:solidFill>
                  <a:srgbClr val="000000"/>
                </a:solidFill>
                <a:effectLst/>
                <a:latin typeface="Ubuntu Thin" panose="020B0304030602030204" charset="0"/>
                <a:cs typeface="Ubuntu Thin" panose="020B0304030602030204" charset="0"/>
              </a:rPr>
              <a:t>Imprimir</a:t>
            </a:r>
            <a:r>
              <a:rPr lang="pt-BR" sz="1600" b="0" i="0" dirty="0">
                <a:solidFill>
                  <a:srgbClr val="000000"/>
                </a:solidFill>
                <a:effectLst/>
                <a:latin typeface="Ubuntu Thin" panose="020B0304030602030204" charset="0"/>
                <a:cs typeface="Ubuntu Thin" panose="020B0304030602030204" charset="0"/>
              </a:rPr>
              <a:t> - Imprime o resultado.</a:t>
            </a:r>
          </a:p>
          <a:p>
            <a:pPr algn="just">
              <a:lnSpc>
                <a:spcPct val="150000"/>
              </a:lnSpc>
              <a:buFont typeface="Arial" panose="02080604020202020204" pitchFamily="34" charset="0"/>
              <a:buChar char="•"/>
            </a:pPr>
            <a:r>
              <a:rPr lang="pt-BR" sz="1600" b="1" i="0" dirty="0">
                <a:solidFill>
                  <a:srgbClr val="000000"/>
                </a:solidFill>
                <a:effectLst/>
                <a:latin typeface="Ubuntu Thin" panose="020B0304030602030204" charset="0"/>
                <a:cs typeface="Ubuntu Thin" panose="020B0304030602030204" charset="0"/>
              </a:rPr>
              <a:t>Loop</a:t>
            </a:r>
            <a:r>
              <a:rPr lang="pt-BR" sz="1600" b="0" i="0" dirty="0">
                <a:solidFill>
                  <a:srgbClr val="000000"/>
                </a:solidFill>
                <a:effectLst/>
                <a:latin typeface="Ubuntu Thin" panose="020B0304030602030204" charset="0"/>
                <a:cs typeface="Ubuntu Thin" panose="020B0304030602030204" charset="0"/>
              </a:rPr>
              <a:t> - Repete o comando acima até que o usuário pressione </a:t>
            </a:r>
            <a:r>
              <a:rPr lang="pt-BR" sz="1600" b="1" i="0" dirty="0" err="1">
                <a:solidFill>
                  <a:srgbClr val="000000"/>
                </a:solidFill>
                <a:effectLst/>
                <a:latin typeface="Ubuntu Thin" panose="020B0304030602030204" charset="0"/>
                <a:cs typeface="Ubuntu Thin" panose="020B0304030602030204" charset="0"/>
              </a:rPr>
              <a:t>ctrl</a:t>
            </a:r>
            <a:r>
              <a:rPr lang="pt-BR" sz="1600" b="1" i="0" dirty="0">
                <a:solidFill>
                  <a:srgbClr val="000000"/>
                </a:solidFill>
                <a:effectLst/>
                <a:latin typeface="Ubuntu Thin" panose="020B0304030602030204" charset="0"/>
                <a:cs typeface="Ubuntu Thin" panose="020B0304030602030204" charset="0"/>
              </a:rPr>
              <a:t>-c</a:t>
            </a:r>
            <a:r>
              <a:rPr lang="pt-BR" sz="1600" b="0" i="0" dirty="0">
                <a:solidFill>
                  <a:srgbClr val="000000"/>
                </a:solidFill>
                <a:effectLst/>
                <a:latin typeface="Ubuntu Thin" panose="020B0304030602030204" charset="0"/>
                <a:cs typeface="Ubuntu Thin" panose="020B0304030602030204" charset="0"/>
              </a:rPr>
              <a:t> duas vezes.</a:t>
            </a:r>
          </a:p>
          <a:p>
            <a:pPr algn="just">
              <a:lnSpc>
                <a:spcPct val="150000"/>
              </a:lnSpc>
            </a:pPr>
            <a:r>
              <a:rPr lang="pt-BR" sz="1600" b="0" i="0" dirty="0">
                <a:solidFill>
                  <a:srgbClr val="000000"/>
                </a:solidFill>
                <a:effectLst/>
                <a:latin typeface="Ubuntu Thin" panose="020B0304030602030204" charset="0"/>
                <a:cs typeface="Ubuntu Thin" panose="020B0304030602030204" charset="0"/>
              </a:rPr>
              <a:t>O recurso REPL do Node é muito útil para experimentar códigos Node.js e depurar códigos </a:t>
            </a:r>
            <a:r>
              <a:rPr lang="pt-BR" sz="1600" b="0" i="0" dirty="0" err="1">
                <a:solidFill>
                  <a:srgbClr val="000000"/>
                </a:solidFill>
                <a:effectLst/>
                <a:latin typeface="Ubuntu Thin" panose="020B0304030602030204" charset="0"/>
                <a:cs typeface="Ubuntu Thin" panose="020B0304030602030204" charset="0"/>
              </a:rPr>
              <a:t>JavaScript</a:t>
            </a:r>
            <a:r>
              <a:rPr lang="pt-BR" sz="1600" b="0" i="0" dirty="0">
                <a:solidFill>
                  <a:srgbClr val="000000"/>
                </a:solidFill>
                <a:effectLst/>
                <a:latin typeface="Ubuntu Thin" panose="020B0304030602030204" charset="0"/>
                <a:cs typeface="Ubuntu Thin" panose="020B0304030602030204" charset="0"/>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4559425" cy="3979585"/>
          </a:xfrm>
        </p:spPr>
        <p:txBody>
          <a:bodyPr anchor="ctr">
            <a:normAutofit/>
          </a:bodyPr>
          <a:lstStyle/>
          <a:p>
            <a:pPr>
              <a:lnSpc>
                <a:spcPct val="150000"/>
              </a:lnSpc>
            </a:pPr>
            <a:r>
              <a:rPr lang="pt-BR" sz="1800" b="1" i="0" u="none" strike="noStrike" dirty="0">
                <a:effectLst/>
                <a:latin typeface="Ubuntu Thin" panose="020B0304030602030204" charset="0"/>
                <a:cs typeface="Ubuntu Thin" panose="020B0304030602030204" charset="0"/>
              </a:rPr>
              <a:t>REPL Terminal</a:t>
            </a:r>
            <a:endParaRPr lang="pt-BR" sz="1600" b="1" i="0" u="none" strike="noStrike" dirty="0">
              <a:effectLst/>
              <a:latin typeface="Ubuntu Thin" panose="020B0304030602030204" charset="0"/>
              <a:cs typeface="Ubuntu Thin" panose="020B0304030602030204" charset="0"/>
            </a:endParaRPr>
          </a:p>
          <a:p>
            <a:pPr algn="l">
              <a:lnSpc>
                <a:spcPct val="150000"/>
              </a:lnSpc>
            </a:pPr>
            <a:r>
              <a:rPr lang="pt-BR" sz="1600" b="0" i="0" dirty="0">
                <a:effectLst/>
                <a:latin typeface="Ubuntu Thin" panose="020B0304030602030204" charset="0"/>
                <a:cs typeface="Ubuntu Thin" panose="020B0304030602030204" charset="0"/>
              </a:rPr>
              <a:t>Iniciando REPL</a:t>
            </a:r>
          </a:p>
          <a:p>
            <a:pPr algn="just">
              <a:lnSpc>
                <a:spcPct val="150000"/>
              </a:lnSpc>
            </a:pPr>
            <a:r>
              <a:rPr lang="pt-BR" sz="1600" b="0" i="0" dirty="0">
                <a:solidFill>
                  <a:srgbClr val="000000"/>
                </a:solidFill>
                <a:effectLst/>
                <a:latin typeface="Ubuntu Thin" panose="020B0304030602030204" charset="0"/>
                <a:cs typeface="Ubuntu Thin" panose="020B0304030602030204" charset="0"/>
              </a:rPr>
              <a:t>O REPL pode ser iniciado simplesmente executando o </a:t>
            </a:r>
            <a:r>
              <a:rPr lang="pt-BR" sz="1600" b="1" dirty="0">
                <a:solidFill>
                  <a:srgbClr val="000000"/>
                </a:solidFill>
                <a:latin typeface="Ubuntu Thin" panose="020B0304030602030204" charset="0"/>
                <a:cs typeface="Ubuntu Thin" panose="020B0304030602030204" charset="0"/>
              </a:rPr>
              <a:t>node</a:t>
            </a:r>
            <a:r>
              <a:rPr lang="pt-BR" sz="1600" b="0" i="0" dirty="0">
                <a:solidFill>
                  <a:srgbClr val="000000"/>
                </a:solidFill>
                <a:effectLst/>
                <a:latin typeface="Ubuntu Thin" panose="020B0304030602030204" charset="0"/>
                <a:cs typeface="Ubuntu Thin" panose="020B0304030602030204" charset="0"/>
              </a:rPr>
              <a:t> no </a:t>
            </a:r>
            <a:r>
              <a:rPr lang="pt-BR" sz="1600" b="0" i="0" dirty="0" err="1">
                <a:solidFill>
                  <a:srgbClr val="000000"/>
                </a:solidFill>
                <a:effectLst/>
                <a:latin typeface="Ubuntu Thin" panose="020B0304030602030204" charset="0"/>
                <a:cs typeface="Ubuntu Thin" panose="020B0304030602030204" charset="0"/>
              </a:rPr>
              <a:t>shell</a:t>
            </a:r>
            <a:r>
              <a:rPr lang="pt-BR" sz="1600" b="0" i="0" dirty="0">
                <a:solidFill>
                  <a:srgbClr val="000000"/>
                </a:solidFill>
                <a:effectLst/>
                <a:latin typeface="Ubuntu Thin" panose="020B0304030602030204" charset="0"/>
                <a:cs typeface="Ubuntu Thin" panose="020B0304030602030204" charset="0"/>
              </a:rPr>
              <a:t> / console sem nenhum argumento, como segue.</a:t>
            </a:r>
          </a:p>
          <a:p>
            <a:pPr algn="just">
              <a:lnSpc>
                <a:spcPct val="150000"/>
              </a:lnSpc>
            </a:pPr>
            <a:endParaRPr lang="pt-BR" sz="1600" dirty="0">
              <a:solidFill>
                <a:srgbClr val="000000"/>
              </a:solidFill>
              <a:latin typeface="Ubuntu Thin" panose="020B0304030602030204" charset="0"/>
              <a:cs typeface="Ubuntu Thin" panose="020B0304030602030204" charset="0"/>
            </a:endParaRPr>
          </a:p>
          <a:p>
            <a:pPr algn="just">
              <a:lnSpc>
                <a:spcPct val="150000"/>
              </a:lnSpc>
            </a:pPr>
            <a:r>
              <a:rPr lang="pt-BR" sz="1600" b="0" i="0" dirty="0">
                <a:solidFill>
                  <a:srgbClr val="000000"/>
                </a:solidFill>
                <a:effectLst/>
                <a:latin typeface="Ubuntu Thin" panose="020B0304030602030204" charset="0"/>
                <a:cs typeface="Ubuntu Thin" panose="020B0304030602030204" charset="0"/>
              </a:rPr>
              <a:t>Obs.: Para sair do terminal basta teclar CTRL+C 2x</a:t>
            </a:r>
          </a:p>
        </p:txBody>
      </p:sp>
      <p:sp>
        <p:nvSpPr>
          <p:cNvPr id="13" name="Espaço Reservado para Conteúdo 2"/>
          <p:cNvSpPr txBox="1"/>
          <p:nvPr/>
        </p:nvSpPr>
        <p:spPr>
          <a:xfrm>
            <a:off x="6041006" y="856180"/>
            <a:ext cx="5561434" cy="510394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just">
              <a:lnSpc>
                <a:spcPct val="150000"/>
              </a:lnSpc>
              <a:buFont typeface="Arial" panose="02080604020202020204" pitchFamily="34" charset="0"/>
              <a:buChar char="•"/>
            </a:pPr>
            <a:endParaRPr lang="pt-BR" sz="1600" b="0" i="0" dirty="0">
              <a:solidFill>
                <a:srgbClr val="000000"/>
              </a:solidFill>
              <a:effectLst/>
              <a:latin typeface="Arial" panose="02080604020202020204" pitchFamily="34" charset="0"/>
            </a:endParaRPr>
          </a:p>
        </p:txBody>
      </p:sp>
      <p:pic>
        <p:nvPicPr>
          <p:cNvPr id="4" name="Imagem 3"/>
          <p:cNvPicPr>
            <a:picLocks noChangeAspect="1"/>
          </p:cNvPicPr>
          <p:nvPr/>
        </p:nvPicPr>
        <p:blipFill>
          <a:blip r:embed="rId3"/>
          <a:stretch>
            <a:fillRect/>
          </a:stretch>
        </p:blipFill>
        <p:spPr>
          <a:xfrm>
            <a:off x="5798078" y="509571"/>
            <a:ext cx="4176547" cy="1805424"/>
          </a:xfrm>
          <a:prstGeom prst="rect">
            <a:avLst/>
          </a:prstGeom>
        </p:spPr>
      </p:pic>
      <p:sp>
        <p:nvSpPr>
          <p:cNvPr id="14" name="Espaço Reservado para Conteúdo 2"/>
          <p:cNvSpPr txBox="1"/>
          <p:nvPr/>
        </p:nvSpPr>
        <p:spPr>
          <a:xfrm>
            <a:off x="5798078" y="2323885"/>
            <a:ext cx="6166618" cy="1119603"/>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nSpc>
                <a:spcPct val="150000"/>
              </a:lnSpc>
            </a:pPr>
            <a:r>
              <a:rPr lang="pt-BR" sz="1600" dirty="0">
                <a:latin typeface="Ubuntu Thin" panose="020B0304030602030204" charset="0"/>
                <a:cs typeface="Ubuntu Thin" panose="020B0304030602030204" charset="0"/>
              </a:rPr>
              <a:t>Neste terminal você pode executar comandos em </a:t>
            </a:r>
            <a:r>
              <a:rPr lang="pt-BR" sz="1600" dirty="0" err="1">
                <a:latin typeface="Ubuntu Thin" panose="020B0304030602030204" charset="0"/>
                <a:cs typeface="Ubuntu Thin" panose="020B0304030602030204" charset="0"/>
              </a:rPr>
              <a:t>javascript</a:t>
            </a:r>
            <a:r>
              <a:rPr lang="pt-BR" sz="1600" dirty="0">
                <a:latin typeface="Ubuntu Thin" panose="020B0304030602030204" charset="0"/>
                <a:cs typeface="Ubuntu Thin" panose="020B0304030602030204" charset="0"/>
              </a:rPr>
              <a:t> diretamente sem a necessidade de um navegador.</a:t>
            </a:r>
          </a:p>
          <a:p>
            <a:pPr>
              <a:lnSpc>
                <a:spcPct val="150000"/>
              </a:lnSpc>
            </a:pPr>
            <a:r>
              <a:rPr lang="pt-BR" sz="1600" dirty="0">
                <a:solidFill>
                  <a:srgbClr val="000000"/>
                </a:solidFill>
                <a:latin typeface="Ubuntu Thin" panose="020B0304030602030204" charset="0"/>
                <a:cs typeface="Ubuntu Thin" panose="020B0304030602030204" charset="0"/>
              </a:rPr>
              <a:t>Basta inserir o código e pressionar </a:t>
            </a:r>
            <a:r>
              <a:rPr lang="pt-BR" sz="1600" dirty="0" err="1">
                <a:solidFill>
                  <a:srgbClr val="000000"/>
                </a:solidFill>
                <a:latin typeface="Ubuntu Thin" panose="020B0304030602030204" charset="0"/>
                <a:cs typeface="Ubuntu Thin" panose="020B0304030602030204" charset="0"/>
              </a:rPr>
              <a:t>Enter</a:t>
            </a:r>
            <a:r>
              <a:rPr lang="pt-BR" sz="1600" dirty="0">
                <a:solidFill>
                  <a:srgbClr val="000000"/>
                </a:solidFill>
                <a:latin typeface="Ubuntu Thin" panose="020B0304030602030204" charset="0"/>
                <a:cs typeface="Ubuntu Thin" panose="020B0304030602030204" charset="0"/>
              </a:rPr>
              <a:t> para executar</a:t>
            </a:r>
          </a:p>
        </p:txBody>
      </p:sp>
      <p:pic>
        <p:nvPicPr>
          <p:cNvPr id="5" name="Imagem 4"/>
          <p:cNvPicPr>
            <a:picLocks noChangeAspect="1"/>
          </p:cNvPicPr>
          <p:nvPr/>
        </p:nvPicPr>
        <p:blipFill>
          <a:blip r:embed="rId4"/>
          <a:stretch>
            <a:fillRect/>
          </a:stretch>
        </p:blipFill>
        <p:spPr>
          <a:xfrm>
            <a:off x="5771486" y="3559124"/>
            <a:ext cx="4468146" cy="313163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5086715" cy="3979585"/>
          </a:xfrm>
        </p:spPr>
        <p:txBody>
          <a:bodyPr anchor="ctr">
            <a:normAutofit/>
          </a:bodyPr>
          <a:lstStyle/>
          <a:p>
            <a:pPr>
              <a:buFont typeface="Arial" panose="02080604020202020204" pitchFamily="34" charset="0"/>
              <a:buChar char="•"/>
            </a:pPr>
            <a:r>
              <a:rPr lang="pt-BR" sz="1800" b="1" i="0" u="none" strike="noStrike" dirty="0" err="1">
                <a:effectLst/>
                <a:latin typeface="Ubuntu Thin" panose="020B0304030602030204" charset="0"/>
                <a:cs typeface="Ubuntu Thin" panose="020B0304030602030204" charset="0"/>
              </a:rPr>
              <a:t>Package</a:t>
            </a:r>
            <a:r>
              <a:rPr lang="pt-BR" sz="1800" b="1" i="0" u="none" strike="noStrike" dirty="0">
                <a:effectLst/>
                <a:latin typeface="Ubuntu Thin" panose="020B0304030602030204" charset="0"/>
                <a:cs typeface="Ubuntu Thin" panose="020B0304030602030204" charset="0"/>
              </a:rPr>
              <a:t> Manager (NPM)</a:t>
            </a:r>
            <a:endParaRPr lang="pt-BR" sz="1800" b="1" i="0" dirty="0">
              <a:effectLst/>
              <a:latin typeface="Ubuntu Thin" panose="020B0304030602030204" charset="0"/>
              <a:cs typeface="Ubuntu Thin" panose="020B0304030602030204" charset="0"/>
            </a:endParaRPr>
          </a:p>
          <a:p>
            <a:pPr algn="just">
              <a:lnSpc>
                <a:spcPct val="150000"/>
              </a:lnSpc>
            </a:pPr>
            <a:r>
              <a:rPr lang="pt-BR" sz="1600" b="0" i="0" dirty="0">
                <a:solidFill>
                  <a:srgbClr val="000000"/>
                </a:solidFill>
                <a:effectLst/>
                <a:latin typeface="Ubuntu Thin" panose="020B0304030602030204" charset="0"/>
                <a:cs typeface="Ubuntu Thin" panose="020B0304030602030204" charset="0"/>
              </a:rPr>
              <a:t>O Node </a:t>
            </a:r>
            <a:r>
              <a:rPr lang="pt-BR" sz="1600" b="0" i="0" dirty="0" err="1">
                <a:solidFill>
                  <a:srgbClr val="000000"/>
                </a:solidFill>
                <a:effectLst/>
                <a:latin typeface="Ubuntu Thin" panose="020B0304030602030204" charset="0"/>
                <a:cs typeface="Ubuntu Thin" panose="020B0304030602030204" charset="0"/>
              </a:rPr>
              <a:t>Package</a:t>
            </a:r>
            <a:r>
              <a:rPr lang="pt-BR" sz="1600" b="0" i="0" dirty="0">
                <a:solidFill>
                  <a:srgbClr val="000000"/>
                </a:solidFill>
                <a:effectLst/>
                <a:latin typeface="Ubuntu Thin" panose="020B0304030602030204" charset="0"/>
                <a:cs typeface="Ubuntu Thin" panose="020B0304030602030204" charset="0"/>
              </a:rPr>
              <a:t> Manager (NPM) fornece duas funcionalidades principais -</a:t>
            </a:r>
          </a:p>
          <a:p>
            <a:pPr algn="just">
              <a:lnSpc>
                <a:spcPct val="150000"/>
              </a:lnSpc>
              <a:buFont typeface="Arial" panose="02080604020202020204" pitchFamily="34" charset="0"/>
              <a:buChar char="•"/>
            </a:pPr>
            <a:r>
              <a:rPr lang="pt-BR" sz="1600" b="0" i="0" dirty="0">
                <a:solidFill>
                  <a:srgbClr val="000000"/>
                </a:solidFill>
                <a:effectLst/>
                <a:latin typeface="Ubuntu Thin" panose="020B0304030602030204" charset="0"/>
                <a:cs typeface="Ubuntu Thin" panose="020B0304030602030204" charset="0"/>
              </a:rPr>
              <a:t>Repositórios online para pacotes / módulos node.js que podem ser pesquisados ​​em: https://www.npmjs.com/</a:t>
            </a:r>
          </a:p>
          <a:p>
            <a:pPr algn="just">
              <a:lnSpc>
                <a:spcPct val="150000"/>
              </a:lnSpc>
              <a:buFont typeface="Arial" panose="02080604020202020204" pitchFamily="34" charset="0"/>
              <a:buChar char="•"/>
            </a:pPr>
            <a:r>
              <a:rPr lang="pt-BR" sz="1600" b="0" i="0" dirty="0">
                <a:solidFill>
                  <a:srgbClr val="000000"/>
                </a:solidFill>
                <a:effectLst/>
                <a:latin typeface="Ubuntu Thin" panose="020B0304030602030204" charset="0"/>
                <a:cs typeface="Ubuntu Thin" panose="020B0304030602030204" charset="0"/>
              </a:rPr>
              <a:t>Utilitário de linha de comando para instalar pacotes Node.js, fazer gerenciamento de versões e gerenciamento de dependências de pacotes Node.js.</a:t>
            </a:r>
          </a:p>
        </p:txBody>
      </p:sp>
      <p:sp>
        <p:nvSpPr>
          <p:cNvPr id="13" name="Espaço Reservado para Conteúdo 2"/>
          <p:cNvSpPr txBox="1"/>
          <p:nvPr/>
        </p:nvSpPr>
        <p:spPr>
          <a:xfrm>
            <a:off x="5909776" y="746167"/>
            <a:ext cx="5561434" cy="5103945"/>
          </a:xfrm>
          <a:prstGeom prst="rect">
            <a:avLst/>
          </a:prstGeom>
        </p:spPr>
        <p:txBody>
          <a:bodyPr vert="horz" lIns="91440" tIns="45720" rIns="91440" bIns="45720" rtlCol="0" anchor="ctr">
            <a:normAutofit fontScale="92500" lnSpcReduction="10000"/>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l"/>
            <a:r>
              <a:rPr lang="pt-BR" sz="1600" b="1" i="0" dirty="0">
                <a:effectLst/>
                <a:latin typeface="Ubuntu Thin" panose="020B0304030602030204" charset="0"/>
                <a:cs typeface="Ubuntu Thin" panose="020B0304030602030204" charset="0"/>
              </a:rPr>
              <a:t>Instalando Módulos usando NPM</a:t>
            </a:r>
          </a:p>
          <a:p>
            <a:pPr algn="just"/>
            <a:r>
              <a:rPr lang="pt-BR" sz="1600" b="0" i="0" dirty="0">
                <a:solidFill>
                  <a:srgbClr val="000000"/>
                </a:solidFill>
                <a:effectLst/>
                <a:latin typeface="Ubuntu Thin" panose="020B0304030602030204" charset="0"/>
                <a:cs typeface="Ubuntu Thin" panose="020B0304030602030204" charset="0"/>
              </a:rPr>
              <a:t>Existe uma sintaxe simples para instalar qualquer módulo Node.js –</a:t>
            </a:r>
          </a:p>
          <a:p>
            <a:pPr algn="just"/>
            <a:endParaRPr lang="pt-BR" sz="1600" dirty="0">
              <a:solidFill>
                <a:srgbClr val="000000"/>
              </a:solidFill>
              <a:latin typeface="Ubuntu Thin" panose="020B0304030602030204" charset="0"/>
              <a:cs typeface="Ubuntu Thin" panose="020B0304030602030204" charset="0"/>
            </a:endParaRPr>
          </a:p>
          <a:p>
            <a:pPr algn="just"/>
            <a:r>
              <a:rPr lang="pt-BR" sz="1600" b="1" i="0" dirty="0" err="1">
                <a:solidFill>
                  <a:srgbClr val="000000"/>
                </a:solidFill>
                <a:effectLst/>
                <a:latin typeface="Ubuntu Thin" panose="020B0304030602030204" charset="0"/>
                <a:cs typeface="Ubuntu Thin" panose="020B0304030602030204" charset="0"/>
              </a:rPr>
              <a:t>npm</a:t>
            </a:r>
            <a:r>
              <a:rPr lang="pt-BR" sz="1600" b="1" i="0" dirty="0">
                <a:solidFill>
                  <a:srgbClr val="000000"/>
                </a:solidFill>
                <a:effectLst/>
                <a:latin typeface="Ubuntu Thin" panose="020B0304030602030204" charset="0"/>
                <a:cs typeface="Ubuntu Thin" panose="020B0304030602030204" charset="0"/>
              </a:rPr>
              <a:t> </a:t>
            </a:r>
            <a:r>
              <a:rPr lang="pt-BR" sz="1600" b="1" i="0" dirty="0" err="1">
                <a:solidFill>
                  <a:srgbClr val="000000"/>
                </a:solidFill>
                <a:effectLst/>
                <a:latin typeface="Ubuntu Thin" panose="020B0304030602030204" charset="0"/>
                <a:cs typeface="Ubuntu Thin" panose="020B0304030602030204" charset="0"/>
              </a:rPr>
              <a:t>install</a:t>
            </a:r>
            <a:r>
              <a:rPr lang="pt-BR" sz="1600" b="1" i="0" dirty="0">
                <a:solidFill>
                  <a:srgbClr val="000000"/>
                </a:solidFill>
                <a:effectLst/>
                <a:latin typeface="Ubuntu Thin" panose="020B0304030602030204" charset="0"/>
                <a:cs typeface="Ubuntu Thin" panose="020B0304030602030204" charset="0"/>
              </a:rPr>
              <a:t> &lt;Nome do Módulo&gt;</a:t>
            </a:r>
          </a:p>
          <a:p>
            <a:pPr algn="just"/>
            <a:r>
              <a:rPr lang="pt-BR" sz="1600" dirty="0">
                <a:solidFill>
                  <a:srgbClr val="000000"/>
                </a:solidFill>
                <a:latin typeface="Ubuntu Thin" panose="020B0304030602030204" charset="0"/>
                <a:cs typeface="Ubuntu Thin" panose="020B0304030602030204" charset="0"/>
              </a:rPr>
              <a:t>Esse comando instala o módulo de forma local, ou seja, apenas no projeto em que está trabalhando.</a:t>
            </a:r>
          </a:p>
          <a:p>
            <a:pPr algn="just"/>
            <a:endParaRPr lang="pt-BR" sz="1600" dirty="0">
              <a:solidFill>
                <a:srgbClr val="000000"/>
              </a:solidFill>
              <a:latin typeface="Ubuntu Thin" panose="020B0304030602030204" charset="0"/>
              <a:cs typeface="Ubuntu Thin" panose="020B0304030602030204" charset="0"/>
            </a:endParaRPr>
          </a:p>
          <a:p>
            <a:pPr algn="just"/>
            <a:r>
              <a:rPr lang="pt-BR" sz="1600" b="0" i="0" dirty="0">
                <a:solidFill>
                  <a:srgbClr val="000000"/>
                </a:solidFill>
                <a:effectLst/>
                <a:latin typeface="Ubuntu Thin" panose="020B0304030602030204" charset="0"/>
                <a:cs typeface="Ubuntu Thin" panose="020B0304030602030204" charset="0"/>
              </a:rPr>
              <a:t>Por exemplo, a seguir está o comando para instalar um famoso módulo de estrutura da web Node.js chamado </a:t>
            </a:r>
            <a:r>
              <a:rPr lang="pt-BR" sz="1600" b="0" i="0" dirty="0" err="1">
                <a:solidFill>
                  <a:srgbClr val="000000"/>
                </a:solidFill>
                <a:effectLst/>
                <a:latin typeface="Ubuntu Thin" panose="020B0304030602030204" charset="0"/>
                <a:cs typeface="Ubuntu Thin" panose="020B0304030602030204" charset="0"/>
              </a:rPr>
              <a:t>express</a:t>
            </a:r>
            <a:r>
              <a:rPr lang="pt-BR" sz="1600" b="0" i="0" dirty="0">
                <a:solidFill>
                  <a:srgbClr val="000000"/>
                </a:solidFill>
                <a:effectLst/>
                <a:latin typeface="Ubuntu Thin" panose="020B0304030602030204" charset="0"/>
                <a:cs typeface="Ubuntu Thin" panose="020B0304030602030204" charset="0"/>
              </a:rPr>
              <a:t> –</a:t>
            </a:r>
          </a:p>
          <a:p>
            <a:pPr algn="just"/>
            <a:endParaRPr lang="pt-BR" sz="1600" dirty="0">
              <a:solidFill>
                <a:srgbClr val="000000"/>
              </a:solidFill>
              <a:latin typeface="Ubuntu Thin" panose="020B0304030602030204" charset="0"/>
              <a:cs typeface="Ubuntu Thin" panose="020B0304030602030204" charset="0"/>
            </a:endParaRPr>
          </a:p>
          <a:p>
            <a:pPr algn="just"/>
            <a:r>
              <a:rPr lang="pt-BR" sz="1600" b="1" dirty="0" err="1">
                <a:solidFill>
                  <a:srgbClr val="000000"/>
                </a:solidFill>
                <a:latin typeface="Ubuntu Thin" panose="020B0304030602030204" charset="0"/>
                <a:cs typeface="Ubuntu Thin" panose="020B0304030602030204" charset="0"/>
              </a:rPr>
              <a:t>npm</a:t>
            </a:r>
            <a:r>
              <a:rPr lang="pt-BR" sz="1600" b="1" dirty="0">
                <a:solidFill>
                  <a:srgbClr val="000000"/>
                </a:solidFill>
                <a:latin typeface="Ubuntu Thin" panose="020B0304030602030204" charset="0"/>
                <a:cs typeface="Ubuntu Thin" panose="020B0304030602030204" charset="0"/>
              </a:rPr>
              <a:t> </a:t>
            </a:r>
            <a:r>
              <a:rPr lang="pt-BR" sz="1600" b="1" dirty="0" err="1">
                <a:solidFill>
                  <a:srgbClr val="000000"/>
                </a:solidFill>
                <a:latin typeface="Ubuntu Thin" panose="020B0304030602030204" charset="0"/>
                <a:cs typeface="Ubuntu Thin" panose="020B0304030602030204" charset="0"/>
              </a:rPr>
              <a:t>install</a:t>
            </a:r>
            <a:r>
              <a:rPr lang="pt-BR" sz="1600" b="1" dirty="0">
                <a:solidFill>
                  <a:srgbClr val="000000"/>
                </a:solidFill>
                <a:latin typeface="Ubuntu Thin" panose="020B0304030602030204" charset="0"/>
                <a:cs typeface="Ubuntu Thin" panose="020B0304030602030204" charset="0"/>
              </a:rPr>
              <a:t> </a:t>
            </a:r>
            <a:r>
              <a:rPr lang="pt-BR" sz="1600" b="1" dirty="0" err="1">
                <a:solidFill>
                  <a:srgbClr val="000000"/>
                </a:solidFill>
                <a:latin typeface="Ubuntu Thin" panose="020B0304030602030204" charset="0"/>
                <a:cs typeface="Ubuntu Thin" panose="020B0304030602030204" charset="0"/>
              </a:rPr>
              <a:t>express</a:t>
            </a:r>
            <a:endParaRPr lang="pt-BR" sz="1600" b="1" dirty="0">
              <a:solidFill>
                <a:srgbClr val="000000"/>
              </a:solidFill>
              <a:latin typeface="Ubuntu Thin" panose="020B0304030602030204" charset="0"/>
              <a:cs typeface="Ubuntu Thin" panose="020B0304030602030204" charset="0"/>
            </a:endParaRPr>
          </a:p>
          <a:p>
            <a:pPr algn="just"/>
            <a:endParaRPr lang="pt-BR" sz="1600" b="1" dirty="0">
              <a:solidFill>
                <a:srgbClr val="000000"/>
              </a:solidFill>
              <a:latin typeface="Ubuntu Thin" panose="020B0304030602030204" charset="0"/>
              <a:cs typeface="Ubuntu Thin" panose="020B0304030602030204" charset="0"/>
            </a:endParaRPr>
          </a:p>
          <a:p>
            <a:pPr algn="just"/>
            <a:r>
              <a:rPr lang="pt-BR" sz="1600" b="0" i="0" dirty="0">
                <a:solidFill>
                  <a:srgbClr val="000000"/>
                </a:solidFill>
                <a:effectLst/>
                <a:latin typeface="Ubuntu Thin" panose="020B0304030602030204" charset="0"/>
                <a:cs typeface="Ubuntu Thin" panose="020B0304030602030204" charset="0"/>
              </a:rPr>
              <a:t>Agora você pode usar este módulo em seu arquivo </a:t>
            </a:r>
            <a:r>
              <a:rPr lang="pt-BR" sz="1600" b="0" i="0" dirty="0" err="1">
                <a:solidFill>
                  <a:srgbClr val="000000"/>
                </a:solidFill>
                <a:effectLst/>
                <a:latin typeface="Ubuntu Thin" panose="020B0304030602030204" charset="0"/>
                <a:cs typeface="Ubuntu Thin" panose="020B0304030602030204" charset="0"/>
              </a:rPr>
              <a:t>js</a:t>
            </a:r>
            <a:r>
              <a:rPr lang="pt-BR" sz="1600" b="0" i="0" dirty="0">
                <a:solidFill>
                  <a:srgbClr val="000000"/>
                </a:solidFill>
                <a:effectLst/>
                <a:latin typeface="Ubuntu Thin" panose="020B0304030602030204" charset="0"/>
                <a:cs typeface="Ubuntu Thin" panose="020B0304030602030204" charset="0"/>
              </a:rPr>
              <a:t> da seguinte forma –</a:t>
            </a:r>
            <a:endParaRPr lang="pt-BR" sz="1600" b="1" i="0" dirty="0">
              <a:solidFill>
                <a:srgbClr val="000000"/>
              </a:solidFill>
              <a:effectLst/>
              <a:latin typeface="Ubuntu Thin" panose="020B0304030602030204" charset="0"/>
              <a:cs typeface="Ubuntu Thin" panose="020B0304030602030204" charset="0"/>
            </a:endParaRPr>
          </a:p>
          <a:p>
            <a:pPr algn="just"/>
            <a:endParaRPr lang="pt-BR" sz="1600" b="1" dirty="0">
              <a:solidFill>
                <a:srgbClr val="000000"/>
              </a:solidFill>
              <a:latin typeface="Ubuntu Thin" panose="020B0304030602030204" charset="0"/>
              <a:cs typeface="Ubuntu Thin" panose="020B0304030602030204" charset="0"/>
            </a:endParaRPr>
          </a:p>
          <a:p>
            <a:pPr algn="just"/>
            <a:r>
              <a:rPr lang="pt-BR" sz="1600" b="1" dirty="0">
                <a:solidFill>
                  <a:srgbClr val="000000"/>
                </a:solidFill>
                <a:latin typeface="Ubuntu Thin" panose="020B0304030602030204" charset="0"/>
                <a:cs typeface="Ubuntu Thin" panose="020B0304030602030204" charset="0"/>
              </a:rPr>
              <a:t>var </a:t>
            </a:r>
            <a:r>
              <a:rPr lang="pt-BR" sz="1600" b="1" dirty="0" err="1">
                <a:solidFill>
                  <a:srgbClr val="000000"/>
                </a:solidFill>
                <a:latin typeface="Ubuntu Thin" panose="020B0304030602030204" charset="0"/>
                <a:cs typeface="Ubuntu Thin" panose="020B0304030602030204" charset="0"/>
              </a:rPr>
              <a:t>express</a:t>
            </a:r>
            <a:r>
              <a:rPr lang="pt-BR" sz="1600" b="1" dirty="0">
                <a:solidFill>
                  <a:srgbClr val="000000"/>
                </a:solidFill>
                <a:latin typeface="Ubuntu Thin" panose="020B0304030602030204" charset="0"/>
                <a:cs typeface="Ubuntu Thin" panose="020B0304030602030204" charset="0"/>
              </a:rPr>
              <a:t> = </a:t>
            </a:r>
            <a:r>
              <a:rPr lang="pt-BR" sz="1600" b="1" dirty="0" err="1">
                <a:solidFill>
                  <a:srgbClr val="000000"/>
                </a:solidFill>
                <a:latin typeface="Ubuntu Thin" panose="020B0304030602030204" charset="0"/>
                <a:cs typeface="Ubuntu Thin" panose="020B0304030602030204" charset="0"/>
              </a:rPr>
              <a:t>require</a:t>
            </a:r>
            <a:r>
              <a:rPr lang="pt-BR" sz="1600" b="1" dirty="0">
                <a:solidFill>
                  <a:srgbClr val="000000"/>
                </a:solidFill>
                <a:latin typeface="Ubuntu Thin" panose="020B0304030602030204" charset="0"/>
                <a:cs typeface="Ubuntu Thin" panose="020B0304030602030204" charset="0"/>
              </a:rPr>
              <a:t>(“</a:t>
            </a:r>
            <a:r>
              <a:rPr lang="pt-BR" sz="1600" b="1" dirty="0" err="1">
                <a:solidFill>
                  <a:srgbClr val="000000"/>
                </a:solidFill>
                <a:latin typeface="Ubuntu Thin" panose="020B0304030602030204" charset="0"/>
                <a:cs typeface="Ubuntu Thin" panose="020B0304030602030204" charset="0"/>
              </a:rPr>
              <a:t>express</a:t>
            </a:r>
            <a:r>
              <a:rPr lang="pt-BR" sz="1600" b="1" dirty="0">
                <a:solidFill>
                  <a:srgbClr val="000000"/>
                </a:solidFill>
                <a:latin typeface="Ubuntu Thin" panose="020B0304030602030204" charset="0"/>
                <a:cs typeface="Ubuntu Thin" panose="020B0304030602030204"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5086715" cy="3979585"/>
          </a:xfrm>
        </p:spPr>
        <p:txBody>
          <a:bodyPr anchor="ctr">
            <a:normAutofit lnSpcReduction="20000"/>
          </a:bodyPr>
          <a:lstStyle/>
          <a:p>
            <a:pPr>
              <a:buFont typeface="Arial" panose="02080604020202020204" pitchFamily="34" charset="0"/>
              <a:buChar char="•"/>
            </a:pPr>
            <a:r>
              <a:rPr lang="pt-BR" sz="1800" b="1" i="0" u="none" strike="noStrike" dirty="0" err="1">
                <a:effectLst/>
                <a:latin typeface="Ubuntu Thin" panose="020B0304030602030204" charset="0"/>
                <a:cs typeface="Ubuntu Thin" panose="020B0304030602030204" charset="0"/>
              </a:rPr>
              <a:t>Package</a:t>
            </a:r>
            <a:r>
              <a:rPr lang="pt-BR" sz="1800" b="1" i="0" u="none" strike="noStrike" dirty="0">
                <a:effectLst/>
                <a:latin typeface="Ubuntu Thin" panose="020B0304030602030204" charset="0"/>
                <a:cs typeface="Ubuntu Thin" panose="020B0304030602030204" charset="0"/>
              </a:rPr>
              <a:t> Manager (NPM)</a:t>
            </a:r>
            <a:endParaRPr lang="pt-BR" sz="1800" b="1" i="0" dirty="0">
              <a:effectLst/>
              <a:latin typeface="Ubuntu Thin" panose="020B0304030602030204" charset="0"/>
              <a:cs typeface="Ubuntu Thin" panose="020B0304030602030204" charset="0"/>
            </a:endParaRPr>
          </a:p>
          <a:p>
            <a:pPr algn="l">
              <a:lnSpc>
                <a:spcPct val="150000"/>
              </a:lnSpc>
            </a:pPr>
            <a:r>
              <a:rPr lang="pt-BR" sz="1600" b="0" i="0" dirty="0">
                <a:effectLst/>
                <a:latin typeface="Ubuntu Thin" panose="020B0304030602030204" charset="0"/>
                <a:cs typeface="Ubuntu Thin" panose="020B0304030602030204" charset="0"/>
              </a:rPr>
              <a:t>Instalação global x local</a:t>
            </a:r>
          </a:p>
          <a:p>
            <a:pPr algn="just">
              <a:lnSpc>
                <a:spcPct val="150000"/>
              </a:lnSpc>
            </a:pPr>
            <a:r>
              <a:rPr lang="pt-BR" sz="1600" b="0" i="0" dirty="0">
                <a:solidFill>
                  <a:srgbClr val="000000"/>
                </a:solidFill>
                <a:effectLst/>
                <a:latin typeface="Ubuntu Thin" panose="020B0304030602030204" charset="0"/>
                <a:cs typeface="Ubuntu Thin" panose="020B0304030602030204" charset="0"/>
              </a:rPr>
              <a:t>Por padrão, o NPM instala qualquer dependência no modo local. Aqui, o modo local se refere à instalação do pacote no diretório </a:t>
            </a:r>
            <a:r>
              <a:rPr lang="pt-BR" sz="1600" b="1" i="0" dirty="0" err="1">
                <a:solidFill>
                  <a:srgbClr val="000000"/>
                </a:solidFill>
                <a:effectLst/>
                <a:latin typeface="Ubuntu Thin" panose="020B0304030602030204" charset="0"/>
                <a:cs typeface="Ubuntu Thin" panose="020B0304030602030204" charset="0"/>
              </a:rPr>
              <a:t>node_modules</a:t>
            </a:r>
            <a:r>
              <a:rPr lang="pt-BR" sz="1600" b="1" i="0" dirty="0">
                <a:solidFill>
                  <a:srgbClr val="000000"/>
                </a:solidFill>
                <a:effectLst/>
                <a:latin typeface="Ubuntu Thin" panose="020B0304030602030204" charset="0"/>
                <a:cs typeface="Ubuntu Thin" panose="020B0304030602030204" charset="0"/>
              </a:rPr>
              <a:t> </a:t>
            </a:r>
            <a:r>
              <a:rPr lang="pt-BR" sz="1600" b="0" i="0" dirty="0">
                <a:solidFill>
                  <a:srgbClr val="000000"/>
                </a:solidFill>
                <a:effectLst/>
                <a:latin typeface="Ubuntu Thin" panose="020B0304030602030204" charset="0"/>
                <a:cs typeface="Ubuntu Thin" panose="020B0304030602030204" charset="0"/>
              </a:rPr>
              <a:t>localizado na pasta onde o aplicativo Node está presente. Os pacotes implantados localmente são acessíveis por meio do método </a:t>
            </a:r>
            <a:r>
              <a:rPr lang="pt-BR" sz="1600" b="1" i="0" dirty="0" err="1">
                <a:solidFill>
                  <a:srgbClr val="000000"/>
                </a:solidFill>
                <a:effectLst/>
                <a:latin typeface="Ubuntu Thin" panose="020B0304030602030204" charset="0"/>
                <a:cs typeface="Ubuntu Thin" panose="020B0304030602030204" charset="0"/>
              </a:rPr>
              <a:t>require</a:t>
            </a:r>
            <a:r>
              <a:rPr lang="pt-BR" sz="1600" b="1" i="0" dirty="0">
                <a:solidFill>
                  <a:srgbClr val="000000"/>
                </a:solidFill>
                <a:effectLst/>
                <a:latin typeface="Ubuntu Thin" panose="020B0304030602030204" charset="0"/>
                <a:cs typeface="Ubuntu Thin" panose="020B0304030602030204" charset="0"/>
              </a:rPr>
              <a:t> (). </a:t>
            </a:r>
            <a:r>
              <a:rPr lang="pt-BR" sz="1600" b="0" i="0" dirty="0">
                <a:solidFill>
                  <a:srgbClr val="000000"/>
                </a:solidFill>
                <a:effectLst/>
                <a:latin typeface="Ubuntu Thin" panose="020B0304030602030204" charset="0"/>
                <a:cs typeface="Ubuntu Thin" panose="020B0304030602030204" charset="0"/>
              </a:rPr>
              <a:t>Por exemplo, quando instalamos o módulo </a:t>
            </a:r>
            <a:r>
              <a:rPr lang="pt-BR" sz="1600" b="1" i="0" dirty="0" err="1">
                <a:solidFill>
                  <a:srgbClr val="000000"/>
                </a:solidFill>
                <a:effectLst/>
                <a:latin typeface="Ubuntu Thin" panose="020B0304030602030204" charset="0"/>
                <a:cs typeface="Ubuntu Thin" panose="020B0304030602030204" charset="0"/>
              </a:rPr>
              <a:t>express</a:t>
            </a:r>
            <a:r>
              <a:rPr lang="pt-BR" sz="1600" b="0" i="0" dirty="0">
                <a:solidFill>
                  <a:srgbClr val="000000"/>
                </a:solidFill>
                <a:effectLst/>
                <a:latin typeface="Ubuntu Thin" panose="020B0304030602030204" charset="0"/>
                <a:cs typeface="Ubuntu Thin" panose="020B0304030602030204" charset="0"/>
              </a:rPr>
              <a:t>, ele criou o diretório </a:t>
            </a:r>
            <a:r>
              <a:rPr lang="pt-BR" sz="1600" b="1" i="0" dirty="0" err="1">
                <a:solidFill>
                  <a:srgbClr val="000000"/>
                </a:solidFill>
                <a:effectLst/>
                <a:latin typeface="Ubuntu Thin" panose="020B0304030602030204" charset="0"/>
                <a:cs typeface="Ubuntu Thin" panose="020B0304030602030204" charset="0"/>
              </a:rPr>
              <a:t>node_modules</a:t>
            </a:r>
            <a:r>
              <a:rPr lang="pt-BR" sz="1600" b="1" i="0" dirty="0">
                <a:solidFill>
                  <a:srgbClr val="000000"/>
                </a:solidFill>
                <a:effectLst/>
                <a:latin typeface="Ubuntu Thin" panose="020B0304030602030204" charset="0"/>
                <a:cs typeface="Ubuntu Thin" panose="020B0304030602030204" charset="0"/>
              </a:rPr>
              <a:t> </a:t>
            </a:r>
            <a:r>
              <a:rPr lang="pt-BR" sz="1600" b="0" i="0" dirty="0">
                <a:solidFill>
                  <a:srgbClr val="000000"/>
                </a:solidFill>
                <a:effectLst/>
                <a:latin typeface="Ubuntu Thin" panose="020B0304030602030204" charset="0"/>
                <a:cs typeface="Ubuntu Thin" panose="020B0304030602030204" charset="0"/>
              </a:rPr>
              <a:t>no diretório atual onde instalou o módulo </a:t>
            </a:r>
            <a:r>
              <a:rPr lang="pt-BR" sz="1600" b="0" i="0" dirty="0" err="1">
                <a:solidFill>
                  <a:srgbClr val="000000"/>
                </a:solidFill>
                <a:effectLst/>
                <a:latin typeface="Ubuntu Thin" panose="020B0304030602030204" charset="0"/>
                <a:cs typeface="Ubuntu Thin" panose="020B0304030602030204" charset="0"/>
              </a:rPr>
              <a:t>express</a:t>
            </a:r>
            <a:endParaRPr lang="pt-BR" sz="1600" b="0" i="0" dirty="0">
              <a:solidFill>
                <a:srgbClr val="000000"/>
              </a:solidFill>
              <a:effectLst/>
              <a:latin typeface="Ubuntu Thin" panose="020B0304030602030204" charset="0"/>
              <a:cs typeface="Ubuntu Thin" panose="020B0304030602030204" charset="0"/>
            </a:endParaRPr>
          </a:p>
        </p:txBody>
      </p:sp>
      <p:pic>
        <p:nvPicPr>
          <p:cNvPr id="4" name="Imagem 3"/>
          <p:cNvPicPr>
            <a:picLocks noChangeAspect="1"/>
          </p:cNvPicPr>
          <p:nvPr/>
        </p:nvPicPr>
        <p:blipFill>
          <a:blip r:embed="rId3"/>
          <a:stretch>
            <a:fillRect/>
          </a:stretch>
        </p:blipFill>
        <p:spPr>
          <a:xfrm>
            <a:off x="5830297" y="639595"/>
            <a:ext cx="3341838" cy="5627705"/>
          </a:xfrm>
          <a:prstGeom prst="rect">
            <a:avLst/>
          </a:prstGeom>
        </p:spPr>
      </p:pic>
      <p:sp>
        <p:nvSpPr>
          <p:cNvPr id="5" name="Elipse 4"/>
          <p:cNvSpPr/>
          <p:nvPr/>
        </p:nvSpPr>
        <p:spPr>
          <a:xfrm>
            <a:off x="6521986" y="5809957"/>
            <a:ext cx="1861850" cy="66421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5086715" cy="3979585"/>
          </a:xfrm>
        </p:spPr>
        <p:txBody>
          <a:bodyPr anchor="ctr">
            <a:normAutofit/>
          </a:bodyPr>
          <a:lstStyle/>
          <a:p>
            <a:pPr>
              <a:buFont typeface="Arial" panose="02080604020202020204" pitchFamily="34" charset="0"/>
              <a:buChar char="•"/>
            </a:pPr>
            <a:r>
              <a:rPr lang="pt-BR" sz="1800" b="1" i="0" u="none" strike="noStrike" dirty="0" err="1">
                <a:effectLst/>
                <a:latin typeface="Ubuntu Thin" panose="020B0304030602030204" charset="0"/>
                <a:cs typeface="Ubuntu Thin" panose="020B0304030602030204" charset="0"/>
              </a:rPr>
              <a:t>Package</a:t>
            </a:r>
            <a:r>
              <a:rPr lang="pt-BR" sz="1800" b="1" i="0" u="none" strike="noStrike" dirty="0">
                <a:effectLst/>
                <a:latin typeface="Ubuntu Thin" panose="020B0304030602030204" charset="0"/>
                <a:cs typeface="Ubuntu Thin" panose="020B0304030602030204" charset="0"/>
              </a:rPr>
              <a:t> Manager (NPM)</a:t>
            </a:r>
            <a:endParaRPr lang="pt-BR" sz="1800" b="1" i="0" dirty="0">
              <a:effectLst/>
              <a:latin typeface="Ubuntu Thin" panose="020B0304030602030204" charset="0"/>
              <a:cs typeface="Ubuntu Thin" panose="020B0304030602030204" charset="0"/>
            </a:endParaRPr>
          </a:p>
          <a:p>
            <a:pPr algn="just">
              <a:lnSpc>
                <a:spcPct val="150000"/>
              </a:lnSpc>
            </a:pPr>
            <a:r>
              <a:rPr lang="pt-BR" sz="1600" b="0" i="0" dirty="0">
                <a:solidFill>
                  <a:srgbClr val="000000"/>
                </a:solidFill>
                <a:effectLst/>
                <a:latin typeface="Ubuntu Thin" panose="020B0304030602030204" charset="0"/>
                <a:cs typeface="Ubuntu Thin" panose="020B0304030602030204" charset="0"/>
              </a:rPr>
              <a:t>Os pacotes / dependências instalados globalmente são armazenados no diretório do sistema. Essas dependências podem ser usadas na função CLI (</a:t>
            </a:r>
            <a:r>
              <a:rPr lang="pt-BR" sz="1600" b="0" i="0" dirty="0" err="1">
                <a:solidFill>
                  <a:srgbClr val="000000"/>
                </a:solidFill>
                <a:effectLst/>
                <a:latin typeface="Ubuntu Thin" panose="020B0304030602030204" charset="0"/>
                <a:cs typeface="Ubuntu Thin" panose="020B0304030602030204" charset="0"/>
              </a:rPr>
              <a:t>Command</a:t>
            </a:r>
            <a:r>
              <a:rPr lang="pt-BR" sz="1600" b="0" i="0" dirty="0">
                <a:solidFill>
                  <a:srgbClr val="000000"/>
                </a:solidFill>
                <a:effectLst/>
                <a:latin typeface="Ubuntu Thin" panose="020B0304030602030204" charset="0"/>
                <a:cs typeface="Ubuntu Thin" panose="020B0304030602030204" charset="0"/>
              </a:rPr>
              <a:t> </a:t>
            </a:r>
            <a:r>
              <a:rPr lang="pt-BR" sz="1600" b="0" i="0" dirty="0" err="1">
                <a:solidFill>
                  <a:srgbClr val="000000"/>
                </a:solidFill>
                <a:effectLst/>
                <a:latin typeface="Ubuntu Thin" panose="020B0304030602030204" charset="0"/>
                <a:cs typeface="Ubuntu Thin" panose="020B0304030602030204" charset="0"/>
              </a:rPr>
              <a:t>Line</a:t>
            </a:r>
            <a:r>
              <a:rPr lang="pt-BR" sz="1600" b="0" i="0" dirty="0">
                <a:solidFill>
                  <a:srgbClr val="000000"/>
                </a:solidFill>
                <a:effectLst/>
                <a:latin typeface="Ubuntu Thin" panose="020B0304030602030204" charset="0"/>
                <a:cs typeface="Ubuntu Thin" panose="020B0304030602030204" charset="0"/>
              </a:rPr>
              <a:t> Interface) de qualquer node.js, mas não podem ser importadas usando </a:t>
            </a:r>
            <a:r>
              <a:rPr lang="pt-BR" sz="1600" b="0" i="0" dirty="0" err="1">
                <a:solidFill>
                  <a:srgbClr val="000000"/>
                </a:solidFill>
                <a:effectLst/>
                <a:latin typeface="Ubuntu Thin" panose="020B0304030602030204" charset="0"/>
                <a:cs typeface="Ubuntu Thin" panose="020B0304030602030204" charset="0"/>
              </a:rPr>
              <a:t>require</a:t>
            </a:r>
            <a:r>
              <a:rPr lang="pt-BR" sz="1600" b="0" i="0" dirty="0">
                <a:solidFill>
                  <a:srgbClr val="000000"/>
                </a:solidFill>
                <a:effectLst/>
                <a:latin typeface="Ubuntu Thin" panose="020B0304030602030204" charset="0"/>
                <a:cs typeface="Ubuntu Thin" panose="020B0304030602030204" charset="0"/>
              </a:rPr>
              <a:t> () no aplicativo Node diretamente. Agora vamos tentar instalar o módulo expresso usando a instalação global.</a:t>
            </a:r>
          </a:p>
          <a:p>
            <a:pPr algn="just">
              <a:lnSpc>
                <a:spcPct val="150000"/>
              </a:lnSpc>
            </a:pPr>
            <a:r>
              <a:rPr lang="pt-BR" sz="1600" b="1" dirty="0" err="1">
                <a:solidFill>
                  <a:srgbClr val="000000"/>
                </a:solidFill>
                <a:latin typeface="Ubuntu Thin" panose="020B0304030602030204" charset="0"/>
                <a:cs typeface="Ubuntu Thin" panose="020B0304030602030204" charset="0"/>
              </a:rPr>
              <a:t>npm</a:t>
            </a:r>
            <a:r>
              <a:rPr lang="pt-BR" sz="1600" b="1" dirty="0">
                <a:solidFill>
                  <a:srgbClr val="000000"/>
                </a:solidFill>
                <a:latin typeface="Ubuntu Thin" panose="020B0304030602030204" charset="0"/>
                <a:cs typeface="Ubuntu Thin" panose="020B0304030602030204" charset="0"/>
              </a:rPr>
              <a:t> </a:t>
            </a:r>
            <a:r>
              <a:rPr lang="pt-BR" sz="1600" b="1" dirty="0" err="1">
                <a:solidFill>
                  <a:srgbClr val="000000"/>
                </a:solidFill>
                <a:latin typeface="Ubuntu Thin" panose="020B0304030602030204" charset="0"/>
                <a:cs typeface="Ubuntu Thin" panose="020B0304030602030204" charset="0"/>
              </a:rPr>
              <a:t>install</a:t>
            </a:r>
            <a:r>
              <a:rPr lang="pt-BR" sz="1600" b="1" dirty="0">
                <a:solidFill>
                  <a:srgbClr val="000000"/>
                </a:solidFill>
                <a:latin typeface="Ubuntu Thin" panose="020B0304030602030204" charset="0"/>
                <a:cs typeface="Ubuntu Thin" panose="020B0304030602030204" charset="0"/>
              </a:rPr>
              <a:t> </a:t>
            </a:r>
            <a:r>
              <a:rPr lang="pt-BR" sz="1600" b="1" dirty="0" err="1">
                <a:solidFill>
                  <a:srgbClr val="000000"/>
                </a:solidFill>
                <a:latin typeface="Ubuntu Thin" panose="020B0304030602030204" charset="0"/>
                <a:cs typeface="Ubuntu Thin" panose="020B0304030602030204" charset="0"/>
              </a:rPr>
              <a:t>express</a:t>
            </a:r>
            <a:r>
              <a:rPr lang="pt-BR" sz="1600" b="1" dirty="0">
                <a:solidFill>
                  <a:srgbClr val="000000"/>
                </a:solidFill>
                <a:latin typeface="Ubuntu Thin" panose="020B0304030602030204" charset="0"/>
                <a:cs typeface="Ubuntu Thin" panose="020B0304030602030204" charset="0"/>
              </a:rPr>
              <a:t> -g</a:t>
            </a:r>
            <a:endParaRPr lang="pt-BR" sz="1600" b="1" i="0" dirty="0">
              <a:solidFill>
                <a:srgbClr val="000000"/>
              </a:solidFill>
              <a:effectLst/>
              <a:latin typeface="Ubuntu Thin" panose="020B0304030602030204" charset="0"/>
              <a:cs typeface="Ubuntu Thin" panose="020B0304030602030204" charset="0"/>
            </a:endParaRPr>
          </a:p>
        </p:txBody>
      </p:sp>
      <p:sp>
        <p:nvSpPr>
          <p:cNvPr id="14" name="Espaço Reservado para Conteúdo 2"/>
          <p:cNvSpPr txBox="1"/>
          <p:nvPr/>
        </p:nvSpPr>
        <p:spPr>
          <a:xfrm>
            <a:off x="5960703" y="1673125"/>
            <a:ext cx="5086715" cy="3979585"/>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r>
              <a:rPr lang="pt-BR" sz="1600" b="1" dirty="0">
                <a:solidFill>
                  <a:srgbClr val="000000"/>
                </a:solidFill>
                <a:latin typeface="Ubuntu Thin" panose="020B0304030602030204" charset="0"/>
                <a:cs typeface="Ubuntu Thin" panose="020B0304030602030204" charset="0"/>
              </a:rPr>
              <a:t>Para ver os pacotes instalados localmente você pode usar o comando </a:t>
            </a:r>
          </a:p>
          <a:p>
            <a:r>
              <a:rPr lang="pt-BR" sz="1600" b="1" dirty="0" err="1">
                <a:solidFill>
                  <a:srgbClr val="000000"/>
                </a:solidFill>
                <a:latin typeface="Ubuntu Thin" panose="020B0304030602030204" charset="0"/>
                <a:cs typeface="Ubuntu Thin" panose="020B0304030602030204" charset="0"/>
              </a:rPr>
              <a:t>npm</a:t>
            </a:r>
            <a:r>
              <a:rPr lang="pt-BR" sz="1600" b="1" dirty="0">
                <a:solidFill>
                  <a:srgbClr val="000000"/>
                </a:solidFill>
                <a:latin typeface="Ubuntu Thin" panose="020B0304030602030204" charset="0"/>
                <a:cs typeface="Ubuntu Thin" panose="020B0304030602030204" charset="0"/>
              </a:rPr>
              <a:t> </a:t>
            </a:r>
            <a:r>
              <a:rPr lang="pt-BR" sz="1600" b="1" dirty="0" err="1">
                <a:solidFill>
                  <a:srgbClr val="000000"/>
                </a:solidFill>
                <a:latin typeface="Ubuntu Thin" panose="020B0304030602030204" charset="0"/>
                <a:cs typeface="Ubuntu Thin" panose="020B0304030602030204" charset="0"/>
              </a:rPr>
              <a:t>ls</a:t>
            </a:r>
            <a:r>
              <a:rPr lang="pt-BR" sz="1600" b="1" dirty="0">
                <a:solidFill>
                  <a:srgbClr val="000000"/>
                </a:solidFill>
                <a:latin typeface="Ubuntu Thin" panose="020B0304030602030204" charset="0"/>
                <a:cs typeface="Ubuntu Thin" panose="020B0304030602030204" charset="0"/>
              </a:rPr>
              <a:t> –l </a:t>
            </a:r>
          </a:p>
          <a:p>
            <a:r>
              <a:rPr lang="pt-BR" sz="1600" b="1" dirty="0" err="1">
                <a:solidFill>
                  <a:srgbClr val="000000"/>
                </a:solidFill>
                <a:latin typeface="Ubuntu Thin" panose="020B0304030602030204" charset="0"/>
                <a:cs typeface="Ubuntu Thin" panose="020B0304030602030204" charset="0"/>
              </a:rPr>
              <a:t>ls</a:t>
            </a:r>
            <a:r>
              <a:rPr lang="pt-BR" sz="1600" b="1" dirty="0">
                <a:solidFill>
                  <a:srgbClr val="000000"/>
                </a:solidFill>
                <a:latin typeface="Ubuntu Thin" panose="020B0304030602030204" charset="0"/>
                <a:cs typeface="Ubuntu Thin" panose="020B0304030602030204" charset="0"/>
              </a:rPr>
              <a:t> -&gt; </a:t>
            </a:r>
            <a:r>
              <a:rPr lang="pt-BR" sz="1600" b="1" dirty="0" err="1">
                <a:solidFill>
                  <a:srgbClr val="000000"/>
                </a:solidFill>
                <a:latin typeface="Ubuntu Thin" panose="020B0304030602030204" charset="0"/>
                <a:cs typeface="Ubuntu Thin" panose="020B0304030602030204" charset="0"/>
              </a:rPr>
              <a:t>list</a:t>
            </a:r>
            <a:endParaRPr lang="pt-BR" sz="1600" b="1" dirty="0">
              <a:solidFill>
                <a:srgbClr val="000000"/>
              </a:solidFill>
              <a:latin typeface="Ubuntu Thin" panose="020B0304030602030204" charset="0"/>
              <a:cs typeface="Ubuntu Thin" panose="020B0304030602030204" charset="0"/>
            </a:endParaRPr>
          </a:p>
          <a:p>
            <a:r>
              <a:rPr lang="pt-BR" sz="1600" b="1" dirty="0">
                <a:solidFill>
                  <a:srgbClr val="000000"/>
                </a:solidFill>
                <a:latin typeface="Ubuntu Thin" panose="020B0304030602030204" charset="0"/>
                <a:cs typeface="Ubuntu Thin" panose="020B0304030602030204" charset="0"/>
              </a:rPr>
              <a:t>l -&gt; local</a:t>
            </a:r>
          </a:p>
          <a:p>
            <a:endParaRPr lang="pt-BR" sz="1600" b="1" dirty="0">
              <a:solidFill>
                <a:srgbClr val="000000"/>
              </a:solidFill>
              <a:latin typeface="Ubuntu Thin" panose="020B0304030602030204" charset="0"/>
              <a:cs typeface="Ubuntu Thin" panose="020B0304030602030204" charset="0"/>
            </a:endParaRPr>
          </a:p>
          <a:p>
            <a:r>
              <a:rPr lang="pt-BR" sz="1600" b="1" dirty="0">
                <a:solidFill>
                  <a:srgbClr val="000000"/>
                </a:solidFill>
                <a:latin typeface="Ubuntu Thin" panose="020B0304030602030204" charset="0"/>
                <a:cs typeface="Ubuntu Thin" panose="020B0304030602030204" charset="0"/>
              </a:rPr>
              <a:t>Para listar os pacotes instalados de forma global você deve usar o comando:</a:t>
            </a:r>
          </a:p>
          <a:p>
            <a:r>
              <a:rPr lang="pt-BR" sz="1600" b="1" dirty="0" err="1">
                <a:solidFill>
                  <a:srgbClr val="000000"/>
                </a:solidFill>
                <a:latin typeface="Ubuntu Thin" panose="020B0304030602030204" charset="0"/>
                <a:cs typeface="Ubuntu Thin" panose="020B0304030602030204" charset="0"/>
              </a:rPr>
              <a:t>npm</a:t>
            </a:r>
            <a:r>
              <a:rPr lang="pt-BR" sz="1600" b="1" dirty="0">
                <a:solidFill>
                  <a:srgbClr val="000000"/>
                </a:solidFill>
                <a:latin typeface="Ubuntu Thin" panose="020B0304030602030204" charset="0"/>
                <a:cs typeface="Ubuntu Thin" panose="020B0304030602030204" charset="0"/>
              </a:rPr>
              <a:t> </a:t>
            </a:r>
            <a:r>
              <a:rPr lang="pt-BR" sz="1600" b="1" dirty="0" err="1">
                <a:solidFill>
                  <a:srgbClr val="000000"/>
                </a:solidFill>
                <a:latin typeface="Ubuntu Thin" panose="020B0304030602030204" charset="0"/>
                <a:cs typeface="Ubuntu Thin" panose="020B0304030602030204" charset="0"/>
              </a:rPr>
              <a:t>ls</a:t>
            </a:r>
            <a:r>
              <a:rPr lang="pt-BR" sz="1600" b="1" dirty="0">
                <a:solidFill>
                  <a:srgbClr val="000000"/>
                </a:solidFill>
                <a:latin typeface="Ubuntu Thin" panose="020B0304030602030204" charset="0"/>
                <a:cs typeface="Ubuntu Thin" panose="020B0304030602030204" charset="0"/>
              </a:rPr>
              <a:t> –g</a:t>
            </a:r>
          </a:p>
          <a:p>
            <a:r>
              <a:rPr lang="pt-BR" sz="1600" b="1" dirty="0">
                <a:solidFill>
                  <a:srgbClr val="000000"/>
                </a:solidFill>
                <a:latin typeface="Ubuntu Thin" panose="020B0304030602030204" charset="0"/>
                <a:cs typeface="Ubuntu Thin" panose="020B0304030602030204" charset="0"/>
              </a:rPr>
              <a:t>g-&gt; global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5086715" cy="3979585"/>
          </a:xfrm>
        </p:spPr>
        <p:txBody>
          <a:bodyPr anchor="ctr">
            <a:normAutofit/>
          </a:bodyPr>
          <a:lstStyle/>
          <a:p>
            <a:pPr>
              <a:buFont typeface="Arial" panose="02080604020202020204" pitchFamily="34" charset="0"/>
              <a:buChar char="•"/>
            </a:pPr>
            <a:r>
              <a:rPr lang="pt-BR" sz="1800" b="1" i="0" u="none" strike="noStrike" dirty="0" err="1">
                <a:effectLst/>
                <a:latin typeface="Ubuntu Thin" panose="020B0304030602030204" charset="0"/>
                <a:cs typeface="Ubuntu Thin" panose="020B0304030602030204" charset="0"/>
              </a:rPr>
              <a:t>Package</a:t>
            </a:r>
            <a:r>
              <a:rPr lang="pt-BR" sz="1800" b="1" i="0" u="none" strike="noStrike" dirty="0">
                <a:effectLst/>
                <a:latin typeface="Ubuntu Thin" panose="020B0304030602030204" charset="0"/>
                <a:cs typeface="Ubuntu Thin" panose="020B0304030602030204" charset="0"/>
              </a:rPr>
              <a:t> Manager (NPM)</a:t>
            </a:r>
            <a:endParaRPr lang="pt-BR" sz="1800" b="1" i="0" dirty="0">
              <a:effectLst/>
              <a:latin typeface="Ubuntu Thin" panose="020B0304030602030204" charset="0"/>
              <a:cs typeface="Ubuntu Thin" panose="020B0304030602030204" charset="0"/>
            </a:endParaRPr>
          </a:p>
          <a:p>
            <a:pPr algn="l">
              <a:lnSpc>
                <a:spcPct val="150000"/>
              </a:lnSpc>
            </a:pPr>
            <a:r>
              <a:rPr lang="pt-BR" sz="1600" b="0" i="0" dirty="0">
                <a:effectLst/>
                <a:latin typeface="Ubuntu Thin" panose="020B0304030602030204" charset="0"/>
                <a:cs typeface="Ubuntu Thin" panose="020B0304030602030204" charset="0"/>
              </a:rPr>
              <a:t>Usando </a:t>
            </a:r>
            <a:r>
              <a:rPr lang="pt-BR" sz="1600" b="0" i="0" dirty="0" err="1">
                <a:effectLst/>
                <a:latin typeface="Ubuntu Thin" panose="020B0304030602030204" charset="0"/>
                <a:cs typeface="Ubuntu Thin" panose="020B0304030602030204" charset="0"/>
              </a:rPr>
              <a:t>package.json</a:t>
            </a:r>
            <a:endParaRPr lang="pt-BR" sz="1600" b="0" i="0" dirty="0">
              <a:effectLst/>
              <a:latin typeface="Ubuntu Thin" panose="020B0304030602030204" charset="0"/>
              <a:cs typeface="Ubuntu Thin" panose="020B0304030602030204" charset="0"/>
            </a:endParaRPr>
          </a:p>
          <a:p>
            <a:pPr algn="just">
              <a:lnSpc>
                <a:spcPct val="150000"/>
              </a:lnSpc>
            </a:pPr>
            <a:r>
              <a:rPr lang="pt-BR" sz="1600" b="0" i="0" dirty="0" err="1">
                <a:solidFill>
                  <a:srgbClr val="000000"/>
                </a:solidFill>
                <a:effectLst/>
                <a:latin typeface="Ubuntu Thin" panose="020B0304030602030204" charset="0"/>
                <a:cs typeface="Ubuntu Thin" panose="020B0304030602030204" charset="0"/>
              </a:rPr>
              <a:t>package.json</a:t>
            </a:r>
            <a:r>
              <a:rPr lang="pt-BR" sz="1600" b="0" i="0" dirty="0">
                <a:solidFill>
                  <a:srgbClr val="000000"/>
                </a:solidFill>
                <a:effectLst/>
                <a:latin typeface="Ubuntu Thin" panose="020B0304030602030204" charset="0"/>
                <a:cs typeface="Ubuntu Thin" panose="020B0304030602030204" charset="0"/>
              </a:rPr>
              <a:t> está presente no diretório raiz de qualquer aplicativo / módulo do Node e é usado para definir as propriedades de um pacote. Vamos abrir o </a:t>
            </a:r>
            <a:r>
              <a:rPr lang="pt-BR" sz="1600" b="0" i="0" dirty="0" err="1">
                <a:solidFill>
                  <a:srgbClr val="000000"/>
                </a:solidFill>
                <a:effectLst/>
                <a:latin typeface="Ubuntu Thin" panose="020B0304030602030204" charset="0"/>
                <a:cs typeface="Ubuntu Thin" panose="020B0304030602030204" charset="0"/>
              </a:rPr>
              <a:t>package.json</a:t>
            </a:r>
            <a:r>
              <a:rPr lang="pt-BR" sz="1600" b="0" i="0" dirty="0">
                <a:solidFill>
                  <a:srgbClr val="000000"/>
                </a:solidFill>
                <a:effectLst/>
                <a:latin typeface="Ubuntu Thin" panose="020B0304030602030204" charset="0"/>
                <a:cs typeface="Ubuntu Thin" panose="020B0304030602030204" charset="0"/>
              </a:rPr>
              <a:t> do nosso projeto:</a:t>
            </a:r>
          </a:p>
        </p:txBody>
      </p:sp>
      <p:pic>
        <p:nvPicPr>
          <p:cNvPr id="4" name="Imagem 3"/>
          <p:cNvPicPr>
            <a:picLocks noChangeAspect="1"/>
          </p:cNvPicPr>
          <p:nvPr/>
        </p:nvPicPr>
        <p:blipFill>
          <a:blip r:embed="rId3"/>
          <a:stretch>
            <a:fillRect/>
          </a:stretch>
        </p:blipFill>
        <p:spPr>
          <a:xfrm>
            <a:off x="5873189" y="856180"/>
            <a:ext cx="4015210" cy="31341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5086715" cy="3979585"/>
          </a:xfrm>
        </p:spPr>
        <p:txBody>
          <a:bodyPr anchor="ctr">
            <a:normAutofit/>
          </a:bodyPr>
          <a:lstStyle/>
          <a:p>
            <a:pPr>
              <a:buFont typeface="Arial" panose="02080604020202020204" pitchFamily="34" charset="0"/>
              <a:buChar char="•"/>
            </a:pPr>
            <a:r>
              <a:rPr lang="pt-BR" sz="1800" b="1" i="0" u="none" strike="noStrike" dirty="0" err="1">
                <a:effectLst/>
                <a:latin typeface="Ubuntu Thin" panose="020B0304030602030204" charset="0"/>
                <a:cs typeface="Ubuntu Thin" panose="020B0304030602030204" charset="0"/>
              </a:rPr>
              <a:t>Package</a:t>
            </a:r>
            <a:r>
              <a:rPr lang="pt-BR" sz="1800" b="1" i="0" u="none" strike="noStrike" dirty="0">
                <a:effectLst/>
                <a:latin typeface="Ubuntu Thin" panose="020B0304030602030204" charset="0"/>
                <a:cs typeface="Ubuntu Thin" panose="020B0304030602030204" charset="0"/>
              </a:rPr>
              <a:t> Manager (NPM)</a:t>
            </a:r>
            <a:endParaRPr lang="pt-BR" sz="1800" b="1" i="0" dirty="0">
              <a:effectLst/>
              <a:latin typeface="Ubuntu Thin" panose="020B0304030602030204" charset="0"/>
              <a:cs typeface="Ubuntu Thin" panose="020B0304030602030204" charset="0"/>
            </a:endParaRPr>
          </a:p>
          <a:p>
            <a:pPr algn="l"/>
            <a:r>
              <a:rPr lang="pt-BR" sz="1600" b="0" i="0" dirty="0">
                <a:effectLst/>
                <a:latin typeface="Ubuntu Thin" panose="020B0304030602030204" charset="0"/>
                <a:cs typeface="Ubuntu Thin" panose="020B0304030602030204" charset="0"/>
              </a:rPr>
              <a:t>Desinstalando um Módulo</a:t>
            </a:r>
          </a:p>
          <a:p>
            <a:pPr algn="just"/>
            <a:r>
              <a:rPr lang="pt-BR" sz="1600" b="0" i="0" dirty="0">
                <a:solidFill>
                  <a:srgbClr val="000000"/>
                </a:solidFill>
                <a:effectLst/>
                <a:latin typeface="Ubuntu Thin" panose="020B0304030602030204" charset="0"/>
                <a:cs typeface="Ubuntu Thin" panose="020B0304030602030204" charset="0"/>
              </a:rPr>
              <a:t>Use o seguinte comando para desinstalar um módulo Node.js.</a:t>
            </a:r>
          </a:p>
          <a:p>
            <a:pPr algn="just"/>
            <a:endParaRPr lang="pt-BR" sz="1600" dirty="0">
              <a:solidFill>
                <a:srgbClr val="000000"/>
              </a:solidFill>
              <a:latin typeface="Ubuntu Thin" panose="020B0304030602030204" charset="0"/>
              <a:cs typeface="Ubuntu Thin" panose="020B0304030602030204" charset="0"/>
            </a:endParaRPr>
          </a:p>
          <a:p>
            <a:pPr algn="just"/>
            <a:r>
              <a:rPr lang="pt-BR" sz="1600" b="0" i="0" dirty="0" err="1">
                <a:solidFill>
                  <a:srgbClr val="000000"/>
                </a:solidFill>
                <a:effectLst/>
                <a:latin typeface="Ubuntu Thin" panose="020B0304030602030204" charset="0"/>
                <a:cs typeface="Ubuntu Thin" panose="020B0304030602030204" charset="0"/>
              </a:rPr>
              <a:t>npm</a:t>
            </a:r>
            <a:r>
              <a:rPr lang="pt-BR" sz="1600" b="0" i="0" dirty="0">
                <a:solidFill>
                  <a:srgbClr val="000000"/>
                </a:solidFill>
                <a:effectLst/>
                <a:latin typeface="Ubuntu Thin" panose="020B0304030602030204" charset="0"/>
                <a:cs typeface="Ubuntu Thin" panose="020B0304030602030204" charset="0"/>
              </a:rPr>
              <a:t> </a:t>
            </a:r>
            <a:r>
              <a:rPr lang="pt-BR" sz="1600" b="0" i="0" dirty="0" err="1">
                <a:solidFill>
                  <a:srgbClr val="000000"/>
                </a:solidFill>
                <a:effectLst/>
                <a:latin typeface="Ubuntu Thin" panose="020B0304030602030204" charset="0"/>
                <a:cs typeface="Ubuntu Thin" panose="020B0304030602030204" charset="0"/>
              </a:rPr>
              <a:t>uninstall</a:t>
            </a:r>
            <a:r>
              <a:rPr lang="pt-BR" sz="1600" b="0" i="0" dirty="0">
                <a:solidFill>
                  <a:srgbClr val="000000"/>
                </a:solidFill>
                <a:effectLst/>
                <a:latin typeface="Ubuntu Thin" panose="020B0304030602030204" charset="0"/>
                <a:cs typeface="Ubuntu Thin" panose="020B0304030602030204" charset="0"/>
              </a:rPr>
              <a:t> </a:t>
            </a:r>
            <a:r>
              <a:rPr lang="pt-BR" sz="1600" b="0" i="0" dirty="0" err="1">
                <a:solidFill>
                  <a:srgbClr val="000000"/>
                </a:solidFill>
                <a:effectLst/>
                <a:latin typeface="Ubuntu Thin" panose="020B0304030602030204" charset="0"/>
                <a:cs typeface="Ubuntu Thin" panose="020B0304030602030204" charset="0"/>
              </a:rPr>
              <a:t>express</a:t>
            </a:r>
            <a:endParaRPr lang="pt-BR" sz="1600" b="0" i="0" dirty="0">
              <a:solidFill>
                <a:srgbClr val="000000"/>
              </a:solidFill>
              <a:effectLst/>
              <a:latin typeface="Ubuntu Thin" panose="020B0304030602030204" charset="0"/>
              <a:cs typeface="Ubuntu Thin" panose="020B03040306020302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382597" y="3424348"/>
            <a:ext cx="9426806" cy="1424410"/>
          </a:xfrm>
        </p:spPr>
        <p:txBody>
          <a:bodyPr vert="horz" lIns="91440" tIns="45720" rIns="91440" bIns="45720" rtlCol="0" anchor="b">
            <a:normAutofit/>
          </a:bodyPr>
          <a:lstStyle/>
          <a:p>
            <a:pPr algn="ctr"/>
            <a:r>
              <a:rPr lang="en-US" sz="5400" dirty="0" err="1">
                <a:solidFill>
                  <a:srgbClr val="1B1B1B"/>
                </a:solidFill>
              </a:rPr>
              <a:t>Vamos</a:t>
            </a:r>
            <a:r>
              <a:rPr lang="en-US" sz="5400" dirty="0">
                <a:solidFill>
                  <a:srgbClr val="1B1B1B"/>
                </a:solidFill>
              </a:rPr>
              <a:t> </a:t>
            </a:r>
            <a:r>
              <a:rPr lang="en-US" sz="5400" dirty="0" err="1">
                <a:solidFill>
                  <a:srgbClr val="1B1B1B"/>
                </a:solidFill>
              </a:rPr>
              <a:t>criar</a:t>
            </a:r>
            <a:r>
              <a:rPr lang="en-US" sz="5400" dirty="0">
                <a:solidFill>
                  <a:srgbClr val="1B1B1B"/>
                </a:solidFill>
              </a:rPr>
              <a:t> um </a:t>
            </a:r>
            <a:r>
              <a:rPr lang="en-US" sz="5400" dirty="0" err="1">
                <a:solidFill>
                  <a:srgbClr val="1B1B1B"/>
                </a:solidFill>
              </a:rPr>
              <a:t>projeto</a:t>
            </a:r>
            <a:r>
              <a:rPr lang="en-US" sz="5400" dirty="0">
                <a:solidFill>
                  <a:srgbClr val="1B1B1B"/>
                </a:solidFill>
              </a:rPr>
              <a:t> </a:t>
            </a:r>
            <a:r>
              <a:rPr lang="en-US" sz="5400" dirty="0" err="1">
                <a:solidFill>
                  <a:srgbClr val="1B1B1B"/>
                </a:solidFill>
              </a:rPr>
              <a:t>em</a:t>
            </a:r>
            <a:r>
              <a:rPr lang="en-US" sz="5400" dirty="0">
                <a:solidFill>
                  <a:srgbClr val="1B1B1B"/>
                </a:solidFill>
              </a:rPr>
              <a:t> node</a:t>
            </a:r>
          </a:p>
        </p:txBody>
      </p:sp>
      <p:sp>
        <p:nvSpPr>
          <p:cNvPr id="22" name="Oval 11"/>
          <p:cNvSpPr>
            <a:spLocks noGrp="1" noRot="1" noChangeAspect="1" noMove="1" noResize="1" noEditPoints="1" noAdjustHandles="1" noChangeArrowheads="1" noChangeShapeType="1" noTextEdit="1"/>
          </p:cNvSpPr>
          <p:nvPr/>
        </p:nvSpPr>
        <p:spPr>
          <a:xfrm>
            <a:off x="4908526" y="933319"/>
            <a:ext cx="2463430" cy="24860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13"/>
          <p:cNvSpPr>
            <a:spLocks noGrp="1" noRot="1" noChangeAspect="1" noMove="1" noResize="1" noEditPoints="1" noAdjustHandles="1" noChangeArrowheads="1" noChangeShapeType="1" noTextEdit="1"/>
          </p:cNvSpPr>
          <p:nvPr/>
        </p:nvSpPr>
        <p:spPr>
          <a:xfrm>
            <a:off x="5117592" y="1268361"/>
            <a:ext cx="1956816" cy="1953058"/>
          </a:xfrm>
          <a:prstGeom prst="ellipse">
            <a:avLst/>
          </a:prstGeom>
          <a:solidFill>
            <a:srgbClr val="FFFFFF"/>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15"/>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rcRect l="33525" t="5243" r="33525" b="36180"/>
          <a:stretch>
            <a:fillRect/>
          </a:stretch>
        </p:blipFill>
        <p:spPr>
          <a:xfrm>
            <a:off x="4860081" y="896194"/>
            <a:ext cx="2560320" cy="2560320"/>
          </a:xfrm>
          <a:custGeom>
            <a:avLst/>
            <a:gdLst>
              <a:gd name="connsiteX0" fmla="*/ 2008598 w 4017196"/>
              <a:gd name="connsiteY0" fmla="*/ 0 h 4017196"/>
              <a:gd name="connsiteX1" fmla="*/ 4017196 w 4017196"/>
              <a:gd name="connsiteY1" fmla="*/ 2008598 h 4017196"/>
              <a:gd name="connsiteX2" fmla="*/ 2008598 w 4017196"/>
              <a:gd name="connsiteY2" fmla="*/ 4017196 h 4017196"/>
              <a:gd name="connsiteX3" fmla="*/ 0 w 4017196"/>
              <a:gd name="connsiteY3" fmla="*/ 2008598 h 4017196"/>
              <a:gd name="connsiteX4" fmla="*/ 2008598 w 4017196"/>
              <a:gd name="connsiteY4" fmla="*/ 0 h 4017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7196" h="4017196">
                <a:moveTo>
                  <a:pt x="2008598" y="0"/>
                </a:moveTo>
                <a:cubicBezTo>
                  <a:pt x="3117916" y="0"/>
                  <a:pt x="4017196" y="899280"/>
                  <a:pt x="4017196" y="2008598"/>
                </a:cubicBezTo>
                <a:cubicBezTo>
                  <a:pt x="4017196" y="3117916"/>
                  <a:pt x="3117916" y="4017196"/>
                  <a:pt x="2008598" y="4017196"/>
                </a:cubicBezTo>
                <a:cubicBezTo>
                  <a:pt x="899280" y="4017196"/>
                  <a:pt x="0" y="3117916"/>
                  <a:pt x="0" y="2008598"/>
                </a:cubicBezTo>
                <a:cubicBezTo>
                  <a:pt x="0" y="899280"/>
                  <a:pt x="899280" y="0"/>
                  <a:pt x="2008598" y="0"/>
                </a:cubicBezTo>
                <a:close/>
              </a:path>
            </a:pathLst>
          </a:custGeom>
        </p:spPr>
      </p:pic>
      <p:pic>
        <p:nvPicPr>
          <p:cNvPr id="5" name="Picture 2" descr="TheKenyanDev: How to Restart a Node.js App Programmatically."/>
          <p:cNvPicPr>
            <a:picLocks noGrp="1" noChangeAspect="1" noChangeArrowheads="1"/>
          </p:cNvPicPr>
          <p:nvPr>
            <p:ph idx="1"/>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5181600" y="1330490"/>
            <a:ext cx="1828800" cy="1828800"/>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cxnSp>
        <p:nvCxnSpPr>
          <p:cNvPr id="25" name="Straight Connector 17"/>
          <p:cNvCxnSpPr>
            <a:cxnSpLocks noGrp="1" noRot="1" noChangeAspect="1" noMove="1" noResize="1" noEditPoints="1" noAdjustHandles="1" noChangeArrowheads="1" noChangeShapeType="1"/>
          </p:cNvCxnSpPr>
          <p:nvPr/>
        </p:nvCxnSpPr>
        <p:spPr>
          <a:xfrm>
            <a:off x="5775960" y="4971278"/>
            <a:ext cx="640080" cy="0"/>
          </a:xfrm>
          <a:prstGeom prst="line">
            <a:avLst/>
          </a:prstGeom>
          <a:ln w="28575">
            <a:solidFill>
              <a:srgbClr val="3EA94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382597" y="3424348"/>
            <a:ext cx="9426806" cy="1424410"/>
          </a:xfrm>
        </p:spPr>
        <p:txBody>
          <a:bodyPr vert="horz" lIns="91440" tIns="45720" rIns="91440" bIns="45720" rtlCol="0" anchor="b">
            <a:normAutofit/>
          </a:bodyPr>
          <a:lstStyle/>
          <a:p>
            <a:pPr algn="ctr"/>
            <a:r>
              <a:rPr lang="en-US" sz="5400" dirty="0" err="1">
                <a:solidFill>
                  <a:srgbClr val="1B1B1B"/>
                </a:solidFill>
              </a:rPr>
              <a:t>Vamos</a:t>
            </a:r>
            <a:r>
              <a:rPr lang="en-US" sz="5400" dirty="0">
                <a:solidFill>
                  <a:srgbClr val="1B1B1B"/>
                </a:solidFill>
              </a:rPr>
              <a:t> </a:t>
            </a:r>
            <a:r>
              <a:rPr lang="en-US" sz="5400" dirty="0" err="1">
                <a:solidFill>
                  <a:srgbClr val="1B1B1B"/>
                </a:solidFill>
              </a:rPr>
              <a:t>criar</a:t>
            </a:r>
            <a:r>
              <a:rPr lang="en-US" sz="5400" dirty="0">
                <a:solidFill>
                  <a:srgbClr val="1B1B1B"/>
                </a:solidFill>
              </a:rPr>
              <a:t> um </a:t>
            </a:r>
            <a:r>
              <a:rPr lang="en-US" sz="5400" dirty="0" err="1">
                <a:solidFill>
                  <a:srgbClr val="1B1B1B"/>
                </a:solidFill>
              </a:rPr>
              <a:t>projeto</a:t>
            </a:r>
            <a:r>
              <a:rPr lang="en-US" sz="5400" dirty="0">
                <a:solidFill>
                  <a:srgbClr val="1B1B1B"/>
                </a:solidFill>
              </a:rPr>
              <a:t> </a:t>
            </a:r>
            <a:r>
              <a:rPr lang="en-US" sz="5400" dirty="0" err="1">
                <a:solidFill>
                  <a:srgbClr val="1B1B1B"/>
                </a:solidFill>
              </a:rPr>
              <a:t>em</a:t>
            </a:r>
            <a:r>
              <a:rPr lang="en-US" sz="5400" dirty="0">
                <a:solidFill>
                  <a:srgbClr val="1B1B1B"/>
                </a:solidFill>
              </a:rPr>
              <a:t> node</a:t>
            </a:r>
          </a:p>
        </p:txBody>
      </p:sp>
      <p:sp>
        <p:nvSpPr>
          <p:cNvPr id="22" name="Oval 11"/>
          <p:cNvSpPr>
            <a:spLocks noGrp="1" noRot="1" noChangeAspect="1" noMove="1" noResize="1" noEditPoints="1" noAdjustHandles="1" noChangeArrowheads="1" noChangeShapeType="1" noTextEdit="1"/>
          </p:cNvSpPr>
          <p:nvPr/>
        </p:nvSpPr>
        <p:spPr>
          <a:xfrm>
            <a:off x="4908526" y="933319"/>
            <a:ext cx="2463430" cy="24860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13"/>
          <p:cNvSpPr>
            <a:spLocks noGrp="1" noRot="1" noChangeAspect="1" noMove="1" noResize="1" noEditPoints="1" noAdjustHandles="1" noChangeArrowheads="1" noChangeShapeType="1" noTextEdit="1"/>
          </p:cNvSpPr>
          <p:nvPr/>
        </p:nvSpPr>
        <p:spPr>
          <a:xfrm>
            <a:off x="5117592" y="1268361"/>
            <a:ext cx="1956816" cy="1953058"/>
          </a:xfrm>
          <a:prstGeom prst="ellipse">
            <a:avLst/>
          </a:prstGeom>
          <a:solidFill>
            <a:srgbClr val="FFFFFF"/>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15"/>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rcRect l="33525" t="5243" r="33525" b="36180"/>
          <a:stretch>
            <a:fillRect/>
          </a:stretch>
        </p:blipFill>
        <p:spPr>
          <a:xfrm>
            <a:off x="4860081" y="896194"/>
            <a:ext cx="2560320" cy="2560320"/>
          </a:xfrm>
          <a:custGeom>
            <a:avLst/>
            <a:gdLst>
              <a:gd name="connsiteX0" fmla="*/ 2008598 w 4017196"/>
              <a:gd name="connsiteY0" fmla="*/ 0 h 4017196"/>
              <a:gd name="connsiteX1" fmla="*/ 4017196 w 4017196"/>
              <a:gd name="connsiteY1" fmla="*/ 2008598 h 4017196"/>
              <a:gd name="connsiteX2" fmla="*/ 2008598 w 4017196"/>
              <a:gd name="connsiteY2" fmla="*/ 4017196 h 4017196"/>
              <a:gd name="connsiteX3" fmla="*/ 0 w 4017196"/>
              <a:gd name="connsiteY3" fmla="*/ 2008598 h 4017196"/>
              <a:gd name="connsiteX4" fmla="*/ 2008598 w 4017196"/>
              <a:gd name="connsiteY4" fmla="*/ 0 h 4017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7196" h="4017196">
                <a:moveTo>
                  <a:pt x="2008598" y="0"/>
                </a:moveTo>
                <a:cubicBezTo>
                  <a:pt x="3117916" y="0"/>
                  <a:pt x="4017196" y="899280"/>
                  <a:pt x="4017196" y="2008598"/>
                </a:cubicBezTo>
                <a:cubicBezTo>
                  <a:pt x="4017196" y="3117916"/>
                  <a:pt x="3117916" y="4017196"/>
                  <a:pt x="2008598" y="4017196"/>
                </a:cubicBezTo>
                <a:cubicBezTo>
                  <a:pt x="899280" y="4017196"/>
                  <a:pt x="0" y="3117916"/>
                  <a:pt x="0" y="2008598"/>
                </a:cubicBezTo>
                <a:cubicBezTo>
                  <a:pt x="0" y="899280"/>
                  <a:pt x="899280" y="0"/>
                  <a:pt x="2008598" y="0"/>
                </a:cubicBezTo>
                <a:close/>
              </a:path>
            </a:pathLst>
          </a:custGeom>
        </p:spPr>
      </p:pic>
      <p:pic>
        <p:nvPicPr>
          <p:cNvPr id="5" name="Picture 2" descr="TheKenyanDev: How to Restart a Node.js App Programmatically."/>
          <p:cNvPicPr>
            <a:picLocks noGrp="1" noChangeAspect="1" noChangeArrowheads="1"/>
          </p:cNvPicPr>
          <p:nvPr>
            <p:ph idx="1"/>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5181600" y="1330490"/>
            <a:ext cx="1828800" cy="1828800"/>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cxnSp>
        <p:nvCxnSpPr>
          <p:cNvPr id="25" name="Straight Connector 17"/>
          <p:cNvCxnSpPr>
            <a:cxnSpLocks noGrp="1" noRot="1" noChangeAspect="1" noMove="1" noResize="1" noEditPoints="1" noAdjustHandles="1" noChangeArrowheads="1" noChangeShapeType="1"/>
          </p:cNvCxnSpPr>
          <p:nvPr/>
        </p:nvCxnSpPr>
        <p:spPr>
          <a:xfrm>
            <a:off x="5775960" y="4971278"/>
            <a:ext cx="640080" cy="0"/>
          </a:xfrm>
          <a:prstGeom prst="line">
            <a:avLst/>
          </a:prstGeom>
          <a:ln w="28575">
            <a:solidFill>
              <a:srgbClr val="3EA94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2500" y="89952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5086715" cy="4696024"/>
          </a:xfrm>
        </p:spPr>
        <p:txBody>
          <a:bodyPr anchor="ctr">
            <a:normAutofit fontScale="92500"/>
          </a:bodyPr>
          <a:lstStyle/>
          <a:p>
            <a:pPr algn="just">
              <a:lnSpc>
                <a:spcPct val="150000"/>
              </a:lnSpc>
              <a:buFont typeface="Arial" panose="02080604020202020204" pitchFamily="34" charset="0"/>
              <a:buChar char="•"/>
            </a:pPr>
            <a:r>
              <a:rPr lang="pt-BR" sz="1600" i="0" u="none" strike="noStrike" dirty="0">
                <a:effectLst/>
                <a:latin typeface="Ubuntu Thin" panose="020B0304030602030204" charset="0"/>
                <a:cs typeface="Ubuntu Thin" panose="020B0304030602030204" charset="0"/>
              </a:rPr>
              <a:t>Acesse o </a:t>
            </a:r>
            <a:r>
              <a:rPr lang="pt-BR" sz="1600" i="0" u="none" strike="noStrike" dirty="0" err="1">
                <a:effectLst/>
                <a:latin typeface="Ubuntu Thin" panose="020B0304030602030204" charset="0"/>
                <a:cs typeface="Ubuntu Thin" panose="020B0304030602030204" charset="0"/>
              </a:rPr>
              <a:t>vscode</a:t>
            </a:r>
            <a:r>
              <a:rPr lang="pt-BR" sz="1600" i="0" u="none" strike="noStrike" dirty="0">
                <a:effectLst/>
                <a:latin typeface="Ubuntu Thin" panose="020B0304030602030204" charset="0"/>
                <a:cs typeface="Ubuntu Thin" panose="020B0304030602030204" charset="0"/>
              </a:rPr>
              <a:t> e crie a seguinte arvore de diretórios:</a:t>
            </a:r>
          </a:p>
          <a:p>
            <a:pPr algn="just">
              <a:lnSpc>
                <a:spcPct val="150000"/>
              </a:lnSpc>
              <a:buFont typeface="Arial" panose="02080604020202020204" pitchFamily="34" charset="0"/>
              <a:buChar char="•"/>
            </a:pPr>
            <a:endParaRPr lang="pt-BR" sz="1600" dirty="0">
              <a:latin typeface="Ubuntu Thin" panose="020B0304030602030204" charset="0"/>
              <a:cs typeface="Ubuntu Thin" panose="020B0304030602030204" charset="0"/>
            </a:endParaRPr>
          </a:p>
          <a:p>
            <a:pPr algn="just">
              <a:lnSpc>
                <a:spcPct val="150000"/>
              </a:lnSpc>
              <a:buFont typeface="Arial" panose="02080604020202020204" pitchFamily="34" charset="0"/>
              <a:buChar char="•"/>
            </a:pPr>
            <a:endParaRPr lang="pt-BR" sz="1600" i="0" u="none" strike="noStrike" dirty="0">
              <a:effectLst/>
              <a:latin typeface="Ubuntu Thin" panose="020B0304030602030204" charset="0"/>
              <a:cs typeface="Ubuntu Thin" panose="020B0304030602030204" charset="0"/>
            </a:endParaRPr>
          </a:p>
          <a:p>
            <a:pPr algn="just">
              <a:lnSpc>
                <a:spcPct val="150000"/>
              </a:lnSpc>
              <a:buFont typeface="Arial" panose="02080604020202020204" pitchFamily="34" charset="0"/>
              <a:buChar char="•"/>
            </a:pPr>
            <a:endParaRPr lang="pt-BR" sz="1600" i="0" u="none" strike="noStrike" dirty="0">
              <a:effectLst/>
              <a:latin typeface="Ubuntu Thin" panose="020B0304030602030204" charset="0"/>
              <a:cs typeface="Ubuntu Thin" panose="020B0304030602030204" charset="0"/>
            </a:endParaRPr>
          </a:p>
          <a:p>
            <a:pPr marL="0" indent="0" algn="just">
              <a:lnSpc>
                <a:spcPct val="150000"/>
              </a:lnSpc>
              <a:buNone/>
            </a:pPr>
            <a:r>
              <a:rPr lang="pt-BR" sz="1600" dirty="0">
                <a:latin typeface="Ubuntu Thin" panose="020B0304030602030204" charset="0"/>
                <a:cs typeface="Ubuntu Thin" panose="020B0304030602030204" charset="0"/>
              </a:rPr>
              <a:t>Dentro do diretório </a:t>
            </a:r>
            <a:r>
              <a:rPr lang="pt-BR" sz="1600" b="1" dirty="0">
                <a:latin typeface="Ubuntu Thin" panose="020B0304030602030204" charset="0"/>
                <a:cs typeface="Ubuntu Thin" panose="020B0304030602030204" charset="0"/>
              </a:rPr>
              <a:t>primeiro</a:t>
            </a:r>
            <a:r>
              <a:rPr lang="pt-BR" sz="1600" dirty="0">
                <a:latin typeface="Ubuntu Thin" panose="020B0304030602030204" charset="0"/>
                <a:cs typeface="Ubuntu Thin" panose="020B0304030602030204" charset="0"/>
              </a:rPr>
              <a:t> iremos criar nosso arquivo de descrição do projeto : </a:t>
            </a:r>
            <a:r>
              <a:rPr lang="pt-BR" sz="1600" dirty="0" err="1">
                <a:latin typeface="Ubuntu Thin" panose="020B0304030602030204" charset="0"/>
                <a:cs typeface="Ubuntu Thin" panose="020B0304030602030204" charset="0"/>
              </a:rPr>
              <a:t>packge.json</a:t>
            </a:r>
            <a:r>
              <a:rPr lang="pt-BR" sz="1600" dirty="0">
                <a:latin typeface="Ubuntu Thin" panose="020B0304030602030204" charset="0"/>
                <a:cs typeface="Ubuntu Thin" panose="020B0304030602030204" charset="0"/>
              </a:rPr>
              <a:t>. Isso é feito executando no terminal o seguinte comando: </a:t>
            </a:r>
          </a:p>
          <a:p>
            <a:pPr marL="0" indent="0" algn="just">
              <a:lnSpc>
                <a:spcPct val="150000"/>
              </a:lnSpc>
              <a:buNone/>
            </a:pPr>
            <a:r>
              <a:rPr lang="pt-BR" sz="1600" i="0" u="none" strike="noStrike" dirty="0" err="1">
                <a:effectLst/>
                <a:latin typeface="Ubuntu Thin" panose="020B0304030602030204" charset="0"/>
                <a:cs typeface="Ubuntu Thin" panose="020B0304030602030204" charset="0"/>
              </a:rPr>
              <a:t>npm</a:t>
            </a:r>
            <a:r>
              <a:rPr lang="pt-BR" sz="1600" i="0" u="none" strike="noStrike" dirty="0">
                <a:effectLst/>
                <a:latin typeface="Ubuntu Thin" panose="020B0304030602030204" charset="0"/>
                <a:cs typeface="Ubuntu Thin" panose="020B0304030602030204" charset="0"/>
              </a:rPr>
              <a:t> </a:t>
            </a:r>
            <a:r>
              <a:rPr lang="pt-BR" sz="1600" i="0" u="none" strike="noStrike" dirty="0" err="1">
                <a:effectLst/>
                <a:latin typeface="Ubuntu Thin" panose="020B0304030602030204" charset="0"/>
                <a:cs typeface="Ubuntu Thin" panose="020B0304030602030204" charset="0"/>
              </a:rPr>
              <a:t>init</a:t>
            </a:r>
            <a:endParaRPr lang="pt-BR" sz="1600" i="0" u="none" strike="noStrike" dirty="0">
              <a:effectLst/>
              <a:latin typeface="Ubuntu Thin" panose="020B0304030602030204" charset="0"/>
              <a:cs typeface="Ubuntu Thin" panose="020B0304030602030204" charset="0"/>
            </a:endParaRPr>
          </a:p>
          <a:p>
            <a:pPr marL="0" indent="0" algn="just">
              <a:lnSpc>
                <a:spcPct val="150000"/>
              </a:lnSpc>
              <a:buNone/>
            </a:pPr>
            <a:r>
              <a:rPr lang="pt-BR" sz="1600" dirty="0">
                <a:latin typeface="Ubuntu Thin" panose="020B0304030602030204" charset="0"/>
                <a:cs typeface="Ubuntu Thin" panose="020B0304030602030204" charset="0"/>
              </a:rPr>
              <a:t>Quando você der um </a:t>
            </a:r>
            <a:r>
              <a:rPr lang="pt-BR" sz="1600" dirty="0" err="1">
                <a:latin typeface="Ubuntu Thin" panose="020B0304030602030204" charset="0"/>
                <a:cs typeface="Ubuntu Thin" panose="020B0304030602030204" charset="0"/>
              </a:rPr>
              <a:t>Enter</a:t>
            </a:r>
            <a:r>
              <a:rPr lang="pt-BR" sz="1600" dirty="0">
                <a:latin typeface="Ubuntu Thin" panose="020B0304030602030204" charset="0"/>
                <a:cs typeface="Ubuntu Thin" panose="020B0304030602030204" charset="0"/>
              </a:rPr>
              <a:t> o node irá lhe fazer uma série de perguntas. Responda como ao lado e vá dando </a:t>
            </a:r>
            <a:r>
              <a:rPr lang="pt-BR" sz="1600" dirty="0" err="1">
                <a:latin typeface="Ubuntu Thin" panose="020B0304030602030204" charset="0"/>
                <a:cs typeface="Ubuntu Thin" panose="020B0304030602030204" charset="0"/>
              </a:rPr>
              <a:t>Enter</a:t>
            </a:r>
            <a:endParaRPr lang="pt-BR" sz="1600" i="0" u="none" strike="noStrike" dirty="0">
              <a:effectLst/>
              <a:latin typeface="Ubuntu Thin" panose="020B0304030602030204" charset="0"/>
              <a:cs typeface="Ubuntu Thin" panose="020B0304030602030204" charset="0"/>
            </a:endParaRPr>
          </a:p>
          <a:p>
            <a:pPr marL="0" indent="0">
              <a:buNone/>
            </a:pPr>
            <a:endParaRPr lang="pt-BR" sz="1400" b="1" i="0" u="none" strike="noStrike" dirty="0">
              <a:effectLst/>
              <a:latin typeface="Ubuntu Thin" panose="020B0304030602030204" charset="0"/>
              <a:cs typeface="Ubuntu Thin" panose="020B0304030602030204" charset="0"/>
            </a:endParaRPr>
          </a:p>
          <a:p>
            <a:pPr lvl="2"/>
            <a:endParaRPr lang="pt-BR" sz="800" dirty="0">
              <a:solidFill>
                <a:srgbClr val="000000"/>
              </a:solidFill>
              <a:latin typeface="Ubuntu Thin" panose="020B0304030602030204" charset="0"/>
              <a:cs typeface="Ubuntu Thin" panose="020B0304030602030204" charset="0"/>
            </a:endParaRPr>
          </a:p>
        </p:txBody>
      </p:sp>
      <p:grpSp>
        <p:nvGrpSpPr>
          <p:cNvPr id="17" name="Agrupar 16"/>
          <p:cNvGrpSpPr/>
          <p:nvPr/>
        </p:nvGrpSpPr>
        <p:grpSpPr>
          <a:xfrm>
            <a:off x="2001375" y="2753698"/>
            <a:ext cx="2558415" cy="1348740"/>
            <a:chOff x="553374" y="4516104"/>
            <a:chExt cx="2558415" cy="1348740"/>
          </a:xfrm>
        </p:grpSpPr>
        <p:sp>
          <p:nvSpPr>
            <p:cNvPr id="5" name="CaixaDeTexto 4"/>
            <p:cNvSpPr txBox="1"/>
            <p:nvPr/>
          </p:nvSpPr>
          <p:spPr>
            <a:xfrm>
              <a:off x="553374" y="4516104"/>
              <a:ext cx="859536" cy="369332"/>
            </a:xfrm>
            <a:prstGeom prst="rect">
              <a:avLst/>
            </a:prstGeom>
            <a:noFill/>
          </p:spPr>
          <p:txBody>
            <a:bodyPr wrap="square" rtlCol="0">
              <a:spAutoFit/>
            </a:bodyPr>
            <a:lstStyle/>
            <a:p>
              <a:r>
                <a:rPr lang="pt-BR" dirty="0"/>
                <a:t>Node</a:t>
              </a:r>
            </a:p>
          </p:txBody>
        </p:sp>
        <p:sp>
          <p:nvSpPr>
            <p:cNvPr id="6" name="CaixaDeTexto 5"/>
            <p:cNvSpPr txBox="1"/>
            <p:nvPr/>
          </p:nvSpPr>
          <p:spPr>
            <a:xfrm>
              <a:off x="1245524" y="4887579"/>
              <a:ext cx="1181735" cy="368300"/>
            </a:xfrm>
            <a:prstGeom prst="rect">
              <a:avLst/>
            </a:prstGeom>
            <a:noFill/>
          </p:spPr>
          <p:txBody>
            <a:bodyPr wrap="square" rtlCol="0">
              <a:spAutoFit/>
            </a:bodyPr>
            <a:lstStyle/>
            <a:p>
              <a:r>
                <a:rPr lang="pt-BR" dirty="0"/>
                <a:t>Projetos</a:t>
              </a:r>
            </a:p>
          </p:txBody>
        </p:sp>
        <p:sp>
          <p:nvSpPr>
            <p:cNvPr id="7" name="CaixaDeTexto 6"/>
            <p:cNvSpPr txBox="1"/>
            <p:nvPr/>
          </p:nvSpPr>
          <p:spPr>
            <a:xfrm>
              <a:off x="1938944" y="5496544"/>
              <a:ext cx="1172845" cy="368300"/>
            </a:xfrm>
            <a:prstGeom prst="rect">
              <a:avLst/>
            </a:prstGeom>
            <a:noFill/>
          </p:spPr>
          <p:txBody>
            <a:bodyPr wrap="square" rtlCol="0">
              <a:spAutoFit/>
            </a:bodyPr>
            <a:lstStyle/>
            <a:p>
              <a:r>
                <a:rPr lang="pt-BR" dirty="0"/>
                <a:t>Primeiro</a:t>
              </a:r>
            </a:p>
          </p:txBody>
        </p:sp>
        <p:cxnSp>
          <p:nvCxnSpPr>
            <p:cNvPr id="9" name="Conector: Angulado 8"/>
            <p:cNvCxnSpPr>
              <a:stCxn id="5" idx="2"/>
              <a:endCxn id="6" idx="1"/>
            </p:cNvCxnSpPr>
            <p:nvPr/>
          </p:nvCxnSpPr>
          <p:spPr>
            <a:xfrm rot="5400000" flipV="1">
              <a:off x="1021514" y="4847871"/>
              <a:ext cx="186055" cy="26225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ector: Angulado 10"/>
            <p:cNvCxnSpPr>
              <a:stCxn id="6" idx="2"/>
              <a:endCxn id="7" idx="1"/>
            </p:cNvCxnSpPr>
            <p:nvPr/>
          </p:nvCxnSpPr>
          <p:spPr>
            <a:xfrm rot="5400000" flipV="1">
              <a:off x="1675564" y="5417466"/>
              <a:ext cx="424815" cy="10223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8" name="Imagem 17"/>
          <p:cNvPicPr>
            <a:picLocks noChangeAspect="1"/>
          </p:cNvPicPr>
          <p:nvPr/>
        </p:nvPicPr>
        <p:blipFill>
          <a:blip r:embed="rId3"/>
          <a:stretch>
            <a:fillRect/>
          </a:stretch>
        </p:blipFill>
        <p:spPr>
          <a:xfrm>
            <a:off x="5829860" y="714029"/>
            <a:ext cx="4067175" cy="5191125"/>
          </a:xfrm>
          <a:prstGeom prst="rect">
            <a:avLst/>
          </a:prstGeom>
        </p:spPr>
      </p:pic>
      <p:sp>
        <p:nvSpPr>
          <p:cNvPr id="21" name="CaixaDeTexto 20"/>
          <p:cNvSpPr txBox="1"/>
          <p:nvPr/>
        </p:nvSpPr>
        <p:spPr>
          <a:xfrm>
            <a:off x="10245020" y="1291662"/>
            <a:ext cx="1907716" cy="646331"/>
          </a:xfrm>
          <a:prstGeom prst="rect">
            <a:avLst/>
          </a:prstGeom>
          <a:noFill/>
        </p:spPr>
        <p:txBody>
          <a:bodyPr wrap="square" rtlCol="0">
            <a:spAutoFit/>
          </a:bodyPr>
          <a:lstStyle/>
          <a:p>
            <a:r>
              <a:rPr lang="pt-BR" dirty="0">
                <a:solidFill>
                  <a:srgbClr val="C00000"/>
                </a:solidFill>
              </a:rPr>
              <a:t>Não escreva nada. </a:t>
            </a:r>
          </a:p>
          <a:p>
            <a:r>
              <a:rPr lang="pt-BR" dirty="0">
                <a:solidFill>
                  <a:srgbClr val="C00000"/>
                </a:solidFill>
              </a:rPr>
              <a:t>Tecle </a:t>
            </a:r>
            <a:r>
              <a:rPr lang="pt-BR" dirty="0" err="1">
                <a:solidFill>
                  <a:srgbClr val="C00000"/>
                </a:solidFill>
              </a:rPr>
              <a:t>Enter</a:t>
            </a:r>
            <a:endParaRPr lang="pt-BR" dirty="0">
              <a:solidFill>
                <a:srgbClr val="C00000"/>
              </a:solidFill>
            </a:endParaRPr>
          </a:p>
        </p:txBody>
      </p:sp>
      <p:cxnSp>
        <p:nvCxnSpPr>
          <p:cNvPr id="23" name="Conector de Seta Reta 22"/>
          <p:cNvCxnSpPr>
            <a:endCxn id="21" idx="1"/>
          </p:cNvCxnSpPr>
          <p:nvPr/>
        </p:nvCxnSpPr>
        <p:spPr>
          <a:xfrm>
            <a:off x="6848856" y="1420214"/>
            <a:ext cx="3396164" cy="194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p:cNvCxnSpPr>
            <a:endCxn id="21" idx="1"/>
          </p:cNvCxnSpPr>
          <p:nvPr/>
        </p:nvCxnSpPr>
        <p:spPr>
          <a:xfrm>
            <a:off x="7001256" y="1572614"/>
            <a:ext cx="3243764" cy="42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2500" y="89952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24322"/>
            <a:ext cx="5086715" cy="4696024"/>
          </a:xfrm>
        </p:spPr>
        <p:txBody>
          <a:bodyPr anchor="ctr">
            <a:normAutofit/>
          </a:bodyPr>
          <a:lstStyle/>
          <a:p>
            <a:pPr algn="just">
              <a:lnSpc>
                <a:spcPct val="150000"/>
              </a:lnSpc>
              <a:buFont typeface="Arial" panose="02080604020202020204" pitchFamily="34" charset="0"/>
              <a:buChar char="•"/>
            </a:pPr>
            <a:r>
              <a:rPr lang="pt-BR" sz="1600" i="0" u="none" strike="noStrike" dirty="0">
                <a:effectLst/>
                <a:latin typeface="Ubuntu Thin" panose="020B0304030602030204" charset="0"/>
                <a:cs typeface="Ubuntu Thin" panose="020B0304030602030204" charset="0"/>
              </a:rPr>
              <a:t>Veja agora temos um arquivo de pacote no seu projeto:</a:t>
            </a:r>
          </a:p>
          <a:p>
            <a:pPr algn="just">
              <a:lnSpc>
                <a:spcPct val="150000"/>
              </a:lnSpc>
              <a:buFont typeface="Arial" panose="02080604020202020204" pitchFamily="34" charset="0"/>
              <a:buChar char="•"/>
            </a:pPr>
            <a:endParaRPr lang="pt-BR" sz="1600" dirty="0">
              <a:latin typeface="Ubuntu Thin" panose="020B0304030602030204" charset="0"/>
              <a:cs typeface="Ubuntu Thin" panose="020B0304030602030204" charset="0"/>
            </a:endParaRPr>
          </a:p>
          <a:p>
            <a:pPr algn="just">
              <a:lnSpc>
                <a:spcPct val="150000"/>
              </a:lnSpc>
              <a:buFont typeface="Arial" panose="02080604020202020204" pitchFamily="34" charset="0"/>
              <a:buChar char="•"/>
            </a:pPr>
            <a:endParaRPr lang="pt-BR" sz="1600" i="0" u="none" strike="noStrike" dirty="0">
              <a:effectLst/>
              <a:latin typeface="Ubuntu Thin" panose="020B0304030602030204" charset="0"/>
              <a:cs typeface="Ubuntu Thin" panose="020B0304030602030204" charset="0"/>
            </a:endParaRPr>
          </a:p>
          <a:p>
            <a:pPr algn="just">
              <a:lnSpc>
                <a:spcPct val="150000"/>
              </a:lnSpc>
              <a:buFont typeface="Arial" panose="02080604020202020204" pitchFamily="34" charset="0"/>
              <a:buChar char="•"/>
            </a:pPr>
            <a:endParaRPr lang="pt-BR" sz="1600" i="0" u="none" strike="noStrike" dirty="0">
              <a:effectLst/>
              <a:latin typeface="Ubuntu Thin" panose="020B0304030602030204" charset="0"/>
              <a:cs typeface="Ubuntu Thin" panose="020B0304030602030204" charset="0"/>
            </a:endParaRPr>
          </a:p>
          <a:p>
            <a:pPr marL="0" indent="0" algn="just">
              <a:lnSpc>
                <a:spcPct val="150000"/>
              </a:lnSpc>
              <a:buNone/>
            </a:pPr>
            <a:r>
              <a:rPr lang="pt-BR" sz="1600" dirty="0">
                <a:latin typeface="Ubuntu Thin" panose="020B0304030602030204" charset="0"/>
                <a:cs typeface="Ubuntu Thin" panose="020B0304030602030204" charset="0"/>
              </a:rPr>
              <a:t>Você pode abrir o arquivo </a:t>
            </a:r>
            <a:r>
              <a:rPr lang="pt-BR" sz="1600" dirty="0" err="1">
                <a:latin typeface="Ubuntu Thin" panose="020B0304030602030204" charset="0"/>
                <a:cs typeface="Ubuntu Thin" panose="020B0304030602030204" charset="0"/>
              </a:rPr>
              <a:t>package.json</a:t>
            </a:r>
            <a:r>
              <a:rPr lang="pt-BR" sz="1600" dirty="0">
                <a:latin typeface="Ubuntu Thin" panose="020B0304030602030204" charset="0"/>
                <a:cs typeface="Ubuntu Thin" panose="020B0304030602030204" charset="0"/>
              </a:rPr>
              <a:t> e ver seu conteúdo. Também pode alterá-lo se quiser.</a:t>
            </a:r>
            <a:endParaRPr lang="pt-BR" sz="1600" i="0" u="none" strike="noStrike" dirty="0">
              <a:effectLst/>
              <a:latin typeface="Ubuntu Thin" panose="020B0304030602030204" charset="0"/>
              <a:cs typeface="Ubuntu Thin" panose="020B0304030602030204" charset="0"/>
            </a:endParaRPr>
          </a:p>
          <a:p>
            <a:pPr marL="0" indent="0">
              <a:buNone/>
            </a:pPr>
            <a:endParaRPr lang="pt-BR" sz="1400" b="1" i="0" u="none" strike="noStrike" dirty="0">
              <a:effectLst/>
              <a:latin typeface="Ubuntu Thin" panose="020B0304030602030204" charset="0"/>
              <a:cs typeface="Ubuntu Thin" panose="020B0304030602030204" charset="0"/>
            </a:endParaRPr>
          </a:p>
          <a:p>
            <a:pPr lvl="2"/>
            <a:endParaRPr lang="pt-BR" sz="800" dirty="0">
              <a:solidFill>
                <a:srgbClr val="000000"/>
              </a:solidFill>
              <a:latin typeface="Ubuntu Thin" panose="020B0304030602030204" charset="0"/>
              <a:cs typeface="Ubuntu Thin" panose="020B0304030602030204" charset="0"/>
            </a:endParaRPr>
          </a:p>
        </p:txBody>
      </p:sp>
      <p:pic>
        <p:nvPicPr>
          <p:cNvPr id="18" name="Imagem 17"/>
          <p:cNvPicPr>
            <a:picLocks noChangeAspect="1"/>
          </p:cNvPicPr>
          <p:nvPr/>
        </p:nvPicPr>
        <p:blipFill>
          <a:blip r:embed="rId3"/>
          <a:stretch>
            <a:fillRect/>
          </a:stretch>
        </p:blipFill>
        <p:spPr>
          <a:xfrm>
            <a:off x="5829860" y="714029"/>
            <a:ext cx="4067175" cy="5191125"/>
          </a:xfrm>
          <a:prstGeom prst="rect">
            <a:avLst/>
          </a:prstGeom>
        </p:spPr>
      </p:pic>
      <p:sp>
        <p:nvSpPr>
          <p:cNvPr id="21" name="CaixaDeTexto 20"/>
          <p:cNvSpPr txBox="1"/>
          <p:nvPr/>
        </p:nvSpPr>
        <p:spPr>
          <a:xfrm>
            <a:off x="10245020" y="1291662"/>
            <a:ext cx="1907716" cy="646331"/>
          </a:xfrm>
          <a:prstGeom prst="rect">
            <a:avLst/>
          </a:prstGeom>
          <a:noFill/>
        </p:spPr>
        <p:txBody>
          <a:bodyPr wrap="square" rtlCol="0">
            <a:spAutoFit/>
          </a:bodyPr>
          <a:lstStyle/>
          <a:p>
            <a:r>
              <a:rPr lang="pt-BR" dirty="0">
                <a:solidFill>
                  <a:srgbClr val="C00000"/>
                </a:solidFill>
              </a:rPr>
              <a:t>Não escreva nada. </a:t>
            </a:r>
          </a:p>
          <a:p>
            <a:r>
              <a:rPr lang="pt-BR" dirty="0">
                <a:solidFill>
                  <a:srgbClr val="C00000"/>
                </a:solidFill>
              </a:rPr>
              <a:t>Tecle </a:t>
            </a:r>
            <a:r>
              <a:rPr lang="pt-BR" dirty="0" err="1">
                <a:solidFill>
                  <a:srgbClr val="C00000"/>
                </a:solidFill>
              </a:rPr>
              <a:t>Enter</a:t>
            </a:r>
            <a:endParaRPr lang="pt-BR" dirty="0">
              <a:solidFill>
                <a:srgbClr val="C00000"/>
              </a:solidFill>
            </a:endParaRPr>
          </a:p>
        </p:txBody>
      </p:sp>
      <p:cxnSp>
        <p:nvCxnSpPr>
          <p:cNvPr id="23" name="Conector de Seta Reta 22"/>
          <p:cNvCxnSpPr>
            <a:endCxn id="21" idx="1"/>
          </p:cNvCxnSpPr>
          <p:nvPr/>
        </p:nvCxnSpPr>
        <p:spPr>
          <a:xfrm>
            <a:off x="6848856" y="1420214"/>
            <a:ext cx="3396164" cy="194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p:cNvCxnSpPr>
            <a:endCxn id="21" idx="1"/>
          </p:cNvCxnSpPr>
          <p:nvPr/>
        </p:nvCxnSpPr>
        <p:spPr>
          <a:xfrm>
            <a:off x="7001256" y="1572614"/>
            <a:ext cx="3243764" cy="42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Imagem 3"/>
          <p:cNvPicPr>
            <a:picLocks noChangeAspect="1"/>
          </p:cNvPicPr>
          <p:nvPr/>
        </p:nvPicPr>
        <p:blipFill>
          <a:blip r:embed="rId4"/>
          <a:stretch>
            <a:fillRect/>
          </a:stretch>
        </p:blipFill>
        <p:spPr>
          <a:xfrm>
            <a:off x="665085" y="3704148"/>
            <a:ext cx="2066925" cy="12763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2500" y="89952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847"/>
            <a:ext cx="5086715" cy="4696024"/>
          </a:xfrm>
        </p:spPr>
        <p:txBody>
          <a:bodyPr anchor="ctr">
            <a:normAutofit/>
          </a:bodyPr>
          <a:lstStyle/>
          <a:p>
            <a:pPr algn="just">
              <a:lnSpc>
                <a:spcPct val="150000"/>
              </a:lnSpc>
              <a:buFont typeface="Arial" panose="02080604020202020204" pitchFamily="34" charset="0"/>
              <a:buChar char="•"/>
            </a:pPr>
            <a:r>
              <a:rPr lang="pt-BR" sz="1600" i="0" u="none" strike="noStrike" dirty="0">
                <a:effectLst/>
                <a:latin typeface="Ubuntu Thin" panose="020B0304030602030204" charset="0"/>
                <a:cs typeface="Ubuntu Thin" panose="020B0304030602030204" charset="0"/>
              </a:rPr>
              <a:t>Agora vamos criar um arquivo para testar nossa aplicação em NODEJS</a:t>
            </a:r>
          </a:p>
          <a:p>
            <a:pPr algn="just">
              <a:lnSpc>
                <a:spcPct val="150000"/>
              </a:lnSpc>
              <a:buFont typeface="Arial" panose="02080604020202020204" pitchFamily="34" charset="0"/>
              <a:buChar char="•"/>
            </a:pPr>
            <a:r>
              <a:rPr lang="pt-BR" sz="1600" i="0" u="none" strike="noStrike" dirty="0">
                <a:effectLst/>
                <a:latin typeface="Ubuntu Thin" panose="020B0304030602030204" charset="0"/>
                <a:cs typeface="Ubuntu Thin" panose="020B0304030602030204" charset="0"/>
              </a:rPr>
              <a:t>Crie um arquivo chamado exemplo1.js na pasta Primeiro.</a:t>
            </a:r>
          </a:p>
          <a:p>
            <a:pPr algn="just">
              <a:lnSpc>
                <a:spcPct val="150000"/>
              </a:lnSpc>
              <a:buFont typeface="Arial" panose="02080604020202020204" pitchFamily="34" charset="0"/>
              <a:buChar char="•"/>
            </a:pPr>
            <a:r>
              <a:rPr lang="pt-BR" sz="1600" dirty="0">
                <a:latin typeface="Ubuntu Thin" panose="020B0304030602030204" charset="0"/>
                <a:cs typeface="Ubuntu Thin" panose="020B0304030602030204" charset="0"/>
              </a:rPr>
              <a:t>Agora vamos criar a estrutura do arquivo como vista nos slides anteriores. Acompanhe ao lado</a:t>
            </a:r>
            <a:endParaRPr lang="pt-BR" sz="1600" i="0" u="none" strike="noStrike" dirty="0">
              <a:effectLst/>
              <a:latin typeface="Ubuntu Thin" panose="020B0304030602030204" charset="0"/>
              <a:cs typeface="Ubuntu Thin" panose="020B0304030602030204" charset="0"/>
            </a:endParaRPr>
          </a:p>
          <a:p>
            <a:pPr marL="0" indent="0">
              <a:buNone/>
            </a:pPr>
            <a:endParaRPr lang="pt-BR" sz="1400" b="1" i="0" u="none" strike="noStrike" dirty="0">
              <a:effectLst/>
              <a:latin typeface="Ubuntu Thin" panose="020B0304030602030204" charset="0"/>
              <a:cs typeface="Ubuntu Thin" panose="020B0304030602030204" charset="0"/>
            </a:endParaRPr>
          </a:p>
          <a:p>
            <a:pPr lvl="2"/>
            <a:endParaRPr lang="pt-BR" sz="800" dirty="0">
              <a:solidFill>
                <a:srgbClr val="000000"/>
              </a:solidFill>
              <a:latin typeface="Ubuntu Thin" panose="020B0304030602030204" charset="0"/>
              <a:cs typeface="Ubuntu Thin" panose="020B0304030602030204" charset="0"/>
            </a:endParaRPr>
          </a:p>
        </p:txBody>
      </p:sp>
      <p:cxnSp>
        <p:nvCxnSpPr>
          <p:cNvPr id="23" name="Conector de Seta Reta 22"/>
          <p:cNvCxnSpPr/>
          <p:nvPr/>
        </p:nvCxnSpPr>
        <p:spPr>
          <a:xfrm>
            <a:off x="6848856" y="1420214"/>
            <a:ext cx="3396164" cy="194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p:cNvCxnSpPr/>
          <p:nvPr/>
        </p:nvCxnSpPr>
        <p:spPr>
          <a:xfrm>
            <a:off x="7001256" y="1572614"/>
            <a:ext cx="3243764" cy="42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Imagem 4"/>
          <p:cNvPicPr>
            <a:picLocks noChangeAspect="1"/>
          </p:cNvPicPr>
          <p:nvPr/>
        </p:nvPicPr>
        <p:blipFill>
          <a:blip r:embed="rId3"/>
          <a:stretch>
            <a:fillRect/>
          </a:stretch>
        </p:blipFill>
        <p:spPr>
          <a:xfrm>
            <a:off x="5725584" y="548526"/>
            <a:ext cx="5969592" cy="1743376"/>
          </a:xfrm>
          <a:prstGeom prst="rect">
            <a:avLst/>
          </a:prstGeom>
        </p:spPr>
      </p:pic>
      <p:sp>
        <p:nvSpPr>
          <p:cNvPr id="19" name="Espaço Reservado para Conteúdo 2"/>
          <p:cNvSpPr txBox="1"/>
          <p:nvPr/>
        </p:nvSpPr>
        <p:spPr>
          <a:xfrm>
            <a:off x="5808169" y="1570792"/>
            <a:ext cx="5086715" cy="469602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a:buFont typeface="Arial" panose="02080604020202020204" pitchFamily="34" charset="0"/>
              <a:buNone/>
            </a:pPr>
            <a:r>
              <a:rPr lang="pt-BR" sz="1400" dirty="0">
                <a:latin typeface="Ubuntu Thin" panose="020B0304030602030204" charset="0"/>
                <a:cs typeface="Ubuntu Thin" panose="020B0304030602030204" charset="0"/>
              </a:rPr>
              <a:t>Para testar nosso projeto acesse o terminal e digite o seguinte comando:</a:t>
            </a:r>
          </a:p>
          <a:p>
            <a:pPr marL="0" indent="0">
              <a:buFont typeface="Arial" panose="02080604020202020204" pitchFamily="34" charset="0"/>
              <a:buNone/>
            </a:pPr>
            <a:r>
              <a:rPr lang="pt-BR" sz="1400" dirty="0">
                <a:latin typeface="Ubuntu Thin" panose="020B0304030602030204" charset="0"/>
                <a:cs typeface="Ubuntu Thin" panose="020B0304030602030204" charset="0"/>
              </a:rPr>
              <a:t>node exemplo1.js e tecle </a:t>
            </a:r>
            <a:r>
              <a:rPr lang="pt-BR" sz="1400" dirty="0" err="1">
                <a:latin typeface="Ubuntu Thin" panose="020B0304030602030204" charset="0"/>
                <a:cs typeface="Ubuntu Thin" panose="020B0304030602030204" charset="0"/>
              </a:rPr>
              <a:t>Enter</a:t>
            </a:r>
            <a:r>
              <a:rPr lang="pt-BR" sz="1400" dirty="0">
                <a:latin typeface="Ubuntu Thin" panose="020B0304030602030204" charset="0"/>
                <a:cs typeface="Ubuntu Thin" panose="020B0304030602030204" charset="0"/>
              </a:rPr>
              <a:t>. Você não verá nenhuma resposta.</a:t>
            </a:r>
          </a:p>
          <a:p>
            <a:pPr marL="0" indent="0">
              <a:buFont typeface="Arial" panose="02080604020202020204" pitchFamily="34" charset="0"/>
              <a:buNone/>
            </a:pPr>
            <a:endParaRPr lang="pt-BR" sz="1400" dirty="0">
              <a:latin typeface="Ubuntu Thin" panose="020B0304030602030204" charset="0"/>
              <a:cs typeface="Ubuntu Thin" panose="020B0304030602030204" charset="0"/>
            </a:endParaRPr>
          </a:p>
          <a:p>
            <a:pPr marL="0" indent="0">
              <a:buFont typeface="Arial" panose="02080604020202020204" pitchFamily="34" charset="0"/>
              <a:buNone/>
            </a:pPr>
            <a:r>
              <a:rPr lang="pt-BR" sz="1400" dirty="0">
                <a:latin typeface="Ubuntu Thin" panose="020B0304030602030204" charset="0"/>
                <a:cs typeface="Ubuntu Thin" panose="020B0304030602030204" charset="0"/>
              </a:rPr>
              <a:t>Agora vá até o navegado e digite na url:</a:t>
            </a:r>
          </a:p>
          <a:p>
            <a:pPr marL="0" indent="0">
              <a:buFont typeface="Arial" panose="02080604020202020204" pitchFamily="34" charset="0"/>
              <a:buNone/>
            </a:pPr>
            <a:r>
              <a:rPr lang="pt-BR" sz="1400" dirty="0">
                <a:latin typeface="Ubuntu Thin" panose="020B0304030602030204" charset="0"/>
                <a:cs typeface="Ubuntu Thin" panose="020B0304030602030204" charset="0"/>
                <a:hlinkClick r:id="rId4"/>
              </a:rPr>
              <a:t>http://localhost:3000</a:t>
            </a:r>
            <a:endParaRPr lang="pt-BR" sz="1400" dirty="0">
              <a:latin typeface="Ubuntu Thin" panose="020B0304030602030204" charset="0"/>
              <a:cs typeface="Ubuntu Thin" panose="020B0304030602030204" charset="0"/>
            </a:endParaRPr>
          </a:p>
          <a:p>
            <a:pPr marL="0" indent="0">
              <a:buFont typeface="Arial" panose="02080604020202020204" pitchFamily="34" charset="0"/>
              <a:buNone/>
            </a:pPr>
            <a:r>
              <a:rPr lang="pt-BR" sz="1400" dirty="0">
                <a:latin typeface="Ubuntu Thin" panose="020B0304030602030204" charset="0"/>
                <a:cs typeface="Ubuntu Thin" panose="020B0304030602030204" charset="0"/>
              </a:rPr>
              <a:t>Devemos ter essa resposta</a:t>
            </a:r>
          </a:p>
          <a:p>
            <a:pPr lvl="2"/>
            <a:endParaRPr lang="pt-BR" sz="800" dirty="0">
              <a:solidFill>
                <a:srgbClr val="000000"/>
              </a:solidFill>
              <a:latin typeface="Ubuntu Thin" panose="020B0304030602030204" charset="0"/>
              <a:cs typeface="Ubuntu Thin" panose="020B0304030602030204" charset="0"/>
            </a:endParaRPr>
          </a:p>
        </p:txBody>
      </p:sp>
      <p:pic>
        <p:nvPicPr>
          <p:cNvPr id="6" name="Imagem 5"/>
          <p:cNvPicPr>
            <a:picLocks noChangeAspect="1"/>
          </p:cNvPicPr>
          <p:nvPr/>
        </p:nvPicPr>
        <p:blipFill>
          <a:blip r:embed="rId5"/>
          <a:stretch>
            <a:fillRect/>
          </a:stretch>
        </p:blipFill>
        <p:spPr>
          <a:xfrm>
            <a:off x="6032338" y="5054433"/>
            <a:ext cx="3011078" cy="116337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5086715" cy="3979585"/>
          </a:xfrm>
        </p:spPr>
        <p:txBody>
          <a:bodyPr anchor="ctr">
            <a:normAutofit/>
          </a:bodyPr>
          <a:lstStyle/>
          <a:p>
            <a:r>
              <a:rPr lang="pt-BR" sz="1800" b="1" dirty="0">
                <a:latin typeface="Ubuntu Thin" panose="020B0304030602030204" charset="0"/>
                <a:cs typeface="Ubuntu Thin" panose="020B0304030602030204" charset="0"/>
              </a:rPr>
              <a:t>Conceito de </a:t>
            </a:r>
            <a:r>
              <a:rPr lang="pt-BR" sz="1800" b="1" dirty="0" err="1">
                <a:latin typeface="Ubuntu Thin" panose="020B0304030602030204" charset="0"/>
                <a:cs typeface="Ubuntu Thin" panose="020B0304030602030204" charset="0"/>
              </a:rPr>
              <a:t>callbacks</a:t>
            </a:r>
            <a:endParaRPr lang="pt-BR" sz="1800" b="1" dirty="0">
              <a:latin typeface="Ubuntu Thin" panose="020B0304030602030204" charset="0"/>
              <a:cs typeface="Ubuntu Thin" panose="020B0304030602030204" charset="0"/>
            </a:endParaRPr>
          </a:p>
          <a:p>
            <a:pPr>
              <a:buFont typeface="Arial" panose="02080604020202020204" pitchFamily="34" charset="0"/>
              <a:buChar char="•"/>
            </a:pPr>
            <a:endParaRPr lang="pt-BR" sz="1800" b="1" i="0" dirty="0">
              <a:effectLst/>
              <a:latin typeface="Ubuntu Thin" panose="020B0304030602030204" charset="0"/>
              <a:cs typeface="Ubuntu Thin" panose="020B0304030602030204" charset="0"/>
            </a:endParaRPr>
          </a:p>
          <a:p>
            <a:pPr algn="l">
              <a:lnSpc>
                <a:spcPct val="150000"/>
              </a:lnSpc>
            </a:pPr>
            <a:r>
              <a:rPr lang="pt-BR" sz="1600" dirty="0">
                <a:latin typeface="Ubuntu Thin" panose="020B0304030602030204" charset="0"/>
                <a:cs typeface="Ubuntu Thin" panose="020B0304030602030204" charset="0"/>
              </a:rPr>
              <a:t>O que é </a:t>
            </a:r>
            <a:r>
              <a:rPr lang="pt-BR" sz="1600" dirty="0" err="1">
                <a:latin typeface="Ubuntu Thin" panose="020B0304030602030204" charset="0"/>
                <a:cs typeface="Ubuntu Thin" panose="020B0304030602030204" charset="0"/>
              </a:rPr>
              <a:t>Callback</a:t>
            </a:r>
            <a:r>
              <a:rPr lang="pt-BR" sz="1600" dirty="0">
                <a:latin typeface="Ubuntu Thin" panose="020B0304030602030204" charset="0"/>
                <a:cs typeface="Ubuntu Thin" panose="020B0304030602030204" charset="0"/>
              </a:rPr>
              <a:t>?</a:t>
            </a:r>
          </a:p>
          <a:p>
            <a:pPr algn="just">
              <a:lnSpc>
                <a:spcPct val="150000"/>
              </a:lnSpc>
            </a:pPr>
            <a:r>
              <a:rPr lang="pt-BR" sz="1600" dirty="0">
                <a:latin typeface="Ubuntu Thin" panose="020B0304030602030204" charset="0"/>
                <a:cs typeface="Ubuntu Thin" panose="020B0304030602030204" charset="0"/>
              </a:rPr>
              <a:t>O </a:t>
            </a:r>
            <a:r>
              <a:rPr lang="pt-BR" sz="1600" dirty="0" err="1">
                <a:latin typeface="Ubuntu Thin" panose="020B0304030602030204" charset="0"/>
                <a:cs typeface="Ubuntu Thin" panose="020B0304030602030204" charset="0"/>
              </a:rPr>
              <a:t>Callback</a:t>
            </a:r>
            <a:r>
              <a:rPr lang="pt-BR" sz="1600" dirty="0">
                <a:latin typeface="Ubuntu Thin" panose="020B0304030602030204" charset="0"/>
                <a:cs typeface="Ubuntu Thin" panose="020B0304030602030204" charset="0"/>
              </a:rPr>
              <a:t> é um equivalente assíncrono para uma função. Uma função de </a:t>
            </a:r>
            <a:r>
              <a:rPr lang="pt-BR" sz="1600" dirty="0" err="1">
                <a:latin typeface="Ubuntu Thin" panose="020B0304030602030204" charset="0"/>
                <a:cs typeface="Ubuntu Thin" panose="020B0304030602030204" charset="0"/>
              </a:rPr>
              <a:t>callback</a:t>
            </a:r>
            <a:r>
              <a:rPr lang="pt-BR" sz="1600" dirty="0">
                <a:latin typeface="Ubuntu Thin" panose="020B0304030602030204" charset="0"/>
                <a:cs typeface="Ubuntu Thin" panose="020B0304030602030204" charset="0"/>
              </a:rPr>
              <a:t> é chamada na conclusão de uma determinada tarefa. O Node faz uso intenso de retornos de chamada. Todas as APIs do Node são escritas de forma que suportem </a:t>
            </a:r>
            <a:r>
              <a:rPr lang="pt-BR" sz="1600" dirty="0" err="1">
                <a:latin typeface="Ubuntu Thin" panose="020B0304030602030204" charset="0"/>
                <a:cs typeface="Ubuntu Thin" panose="020B0304030602030204" charset="0"/>
              </a:rPr>
              <a:t>callbacks</a:t>
            </a:r>
            <a:r>
              <a:rPr lang="pt-BR" sz="1600" dirty="0">
                <a:latin typeface="Ubuntu Thin" panose="020B0304030602030204" charset="0"/>
                <a:cs typeface="Ubuntu Thin" panose="020B0304030602030204" charset="0"/>
              </a:rPr>
              <a:t>.</a:t>
            </a:r>
          </a:p>
        </p:txBody>
      </p:sp>
      <p:sp>
        <p:nvSpPr>
          <p:cNvPr id="13" name="Espaço Reservado para Conteúdo 2"/>
          <p:cNvSpPr txBox="1"/>
          <p:nvPr/>
        </p:nvSpPr>
        <p:spPr>
          <a:xfrm>
            <a:off x="5815229" y="712260"/>
            <a:ext cx="5086715" cy="3979585"/>
          </a:xfrm>
          <a:prstGeom prst="rect">
            <a:avLst/>
          </a:prstGeom>
        </p:spPr>
        <p:txBody>
          <a:bodyPr vert="horz" lIns="91440" tIns="45720" rIns="91440" bIns="45720" rtlCol="0" anchor="ctr">
            <a:normAutofit fontScale="92500" lnSpcReduction="10000"/>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just">
              <a:lnSpc>
                <a:spcPct val="150000"/>
              </a:lnSpc>
            </a:pPr>
            <a:r>
              <a:rPr lang="pt-BR" sz="1600" dirty="0">
                <a:latin typeface="Ubuntu Thin" panose="020B0304030602030204" charset="0"/>
                <a:cs typeface="Ubuntu Thin" panose="020B0304030602030204" charset="0"/>
              </a:rPr>
              <a:t>Por exemplo, uma função para ler um arquivo pode iniciar a leitura do arquivo e retornar o controle para o ambiente de execução imediatamente para que a próxima instrução possa ser executada. Assim que a E / S do arquivo estiver concluída, ele chamará a função de retorno de chamada enquanto passa a função de retorno de chamada, o conteúdo do arquivo como um parâmetro. Portanto, não há bloqueio ou espera pela E / S do arquivo. Isso torna o Node.js altamente escalonável, pois pode processar um grande número de solicitações sem esperar que nenhuma função retorne os resultados.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5086715" cy="3979585"/>
          </a:xfrm>
        </p:spPr>
        <p:txBody>
          <a:bodyPr anchor="ctr">
            <a:normAutofit/>
          </a:bodyPr>
          <a:lstStyle/>
          <a:p>
            <a:r>
              <a:rPr lang="pt-BR" sz="1800" b="1" dirty="0">
                <a:latin typeface="Ubuntu Thin" panose="020B0304030602030204" charset="0"/>
                <a:cs typeface="Ubuntu Thin" panose="020B0304030602030204" charset="0"/>
              </a:rPr>
              <a:t>Exemplo de código de bloqueio</a:t>
            </a:r>
            <a:endParaRPr lang="pt-BR" sz="1800" b="1" i="0" dirty="0">
              <a:effectLst/>
              <a:latin typeface="Ubuntu Thin" panose="020B0304030602030204" charset="0"/>
              <a:cs typeface="Ubuntu Thin" panose="020B0304030602030204" charset="0"/>
            </a:endParaRPr>
          </a:p>
          <a:p>
            <a:pPr algn="l">
              <a:lnSpc>
                <a:spcPct val="150000"/>
              </a:lnSpc>
            </a:pPr>
            <a:r>
              <a:rPr lang="pt-BR" sz="1600" dirty="0">
                <a:latin typeface="Ubuntu Thin" panose="020B0304030602030204" charset="0"/>
                <a:cs typeface="Ubuntu Thin" panose="020B0304030602030204" charset="0"/>
              </a:rPr>
              <a:t>Crie um arquivo de texto denominado input.txt com o seguinte conteúdo</a:t>
            </a:r>
          </a:p>
          <a:p>
            <a:pPr marL="457200" lvl="1" indent="0">
              <a:lnSpc>
                <a:spcPct val="150000"/>
              </a:lnSpc>
              <a:buNone/>
            </a:pPr>
            <a:r>
              <a:rPr lang="pt-BR" sz="1200" dirty="0">
                <a:latin typeface="Ubuntu Thin" panose="020B0304030602030204" charset="0"/>
                <a:cs typeface="Ubuntu Thin" panose="020B0304030602030204" charset="0"/>
              </a:rPr>
              <a:t>Minhas informações são muito importantes para a visualização do conteúdo</a:t>
            </a:r>
          </a:p>
          <a:p>
            <a:pPr marL="457200" lvl="1" indent="0">
              <a:lnSpc>
                <a:spcPct val="150000"/>
              </a:lnSpc>
              <a:buNone/>
            </a:pPr>
            <a:r>
              <a:rPr lang="pt-BR" sz="1200" dirty="0">
                <a:latin typeface="Ubuntu Thin" panose="020B0304030602030204" charset="0"/>
                <a:cs typeface="Ubuntu Thin" panose="020B0304030602030204" charset="0"/>
              </a:rPr>
              <a:t>mais dados para que você possa achar o resultado da nossa aplicação</a:t>
            </a:r>
          </a:p>
        </p:txBody>
      </p:sp>
      <p:sp>
        <p:nvSpPr>
          <p:cNvPr id="13" name="Espaço Reservado para Conteúdo 2"/>
          <p:cNvSpPr txBox="1"/>
          <p:nvPr/>
        </p:nvSpPr>
        <p:spPr>
          <a:xfrm>
            <a:off x="5873189" y="518460"/>
            <a:ext cx="5086715" cy="564077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just">
              <a:lnSpc>
                <a:spcPct val="150000"/>
              </a:lnSpc>
            </a:pPr>
            <a:r>
              <a:rPr lang="pt-BR" sz="1600" dirty="0">
                <a:latin typeface="Ubuntu Thin" panose="020B0304030602030204" charset="0"/>
                <a:cs typeface="Ubuntu Thin" panose="020B0304030602030204" charset="0"/>
              </a:rPr>
              <a:t>Crie um arquivo </a:t>
            </a:r>
            <a:r>
              <a:rPr lang="pt-BR" sz="1600" dirty="0" err="1">
                <a:latin typeface="Ubuntu Thin" panose="020B0304030602030204" charset="0"/>
                <a:cs typeface="Ubuntu Thin" panose="020B0304030602030204" charset="0"/>
              </a:rPr>
              <a:t>js</a:t>
            </a:r>
            <a:r>
              <a:rPr lang="pt-BR" sz="1600" dirty="0">
                <a:latin typeface="Ubuntu Thin" panose="020B0304030602030204" charset="0"/>
                <a:cs typeface="Ubuntu Thin" panose="020B0304030602030204" charset="0"/>
              </a:rPr>
              <a:t> chamado main.js com o seguinte código:</a:t>
            </a:r>
          </a:p>
          <a:p>
            <a:pPr algn="just">
              <a:lnSpc>
                <a:spcPct val="150000"/>
              </a:lnSpc>
            </a:pPr>
            <a:endParaRPr lang="pt-BR" sz="1600" dirty="0">
              <a:latin typeface="Ubuntu Thin" panose="020B0304030602030204" charset="0"/>
              <a:cs typeface="Ubuntu Thin" panose="020B0304030602030204" charset="0"/>
            </a:endParaRPr>
          </a:p>
          <a:p>
            <a:pPr algn="just">
              <a:lnSpc>
                <a:spcPct val="150000"/>
              </a:lnSpc>
            </a:pPr>
            <a:endParaRPr lang="pt-BR" sz="1600" dirty="0">
              <a:latin typeface="Ubuntu Thin" panose="020B0304030602030204" charset="0"/>
              <a:cs typeface="Ubuntu Thin" panose="020B0304030602030204" charset="0"/>
            </a:endParaRPr>
          </a:p>
          <a:p>
            <a:pPr marL="0" indent="0" algn="just">
              <a:lnSpc>
                <a:spcPct val="150000"/>
              </a:lnSpc>
              <a:buNone/>
            </a:pPr>
            <a:endParaRPr lang="pt-BR" sz="1600" dirty="0">
              <a:latin typeface="Ubuntu Thin" panose="020B0304030602030204" charset="0"/>
              <a:cs typeface="Ubuntu Thin" panose="020B0304030602030204" charset="0"/>
            </a:endParaRPr>
          </a:p>
          <a:p>
            <a:pPr marL="0" indent="0" algn="just">
              <a:lnSpc>
                <a:spcPct val="150000"/>
              </a:lnSpc>
              <a:buNone/>
            </a:pPr>
            <a:endParaRPr lang="pt-BR" sz="1600" dirty="0">
              <a:latin typeface="Ubuntu Thin" panose="020B0304030602030204" charset="0"/>
              <a:cs typeface="Ubuntu Thin" panose="020B0304030602030204" charset="0"/>
            </a:endParaRPr>
          </a:p>
          <a:p>
            <a:pPr algn="just">
              <a:lnSpc>
                <a:spcPct val="150000"/>
              </a:lnSpc>
            </a:pPr>
            <a:r>
              <a:rPr lang="pt-BR" sz="1600" dirty="0">
                <a:latin typeface="Ubuntu Thin" panose="020B0304030602030204" charset="0"/>
                <a:cs typeface="Ubuntu Thin" panose="020B0304030602030204" charset="0"/>
              </a:rPr>
              <a:t>Vamos executar a aplicação criada. </a:t>
            </a:r>
          </a:p>
          <a:p>
            <a:pPr algn="just">
              <a:lnSpc>
                <a:spcPct val="150000"/>
              </a:lnSpc>
            </a:pPr>
            <a:r>
              <a:rPr lang="pt-BR" sz="1600" dirty="0">
                <a:latin typeface="Ubuntu Thin" panose="020B0304030602030204" charset="0"/>
                <a:cs typeface="Ubuntu Thin" panose="020B0304030602030204" charset="0"/>
              </a:rPr>
              <a:t>Execute o seguinte comando no terminal</a:t>
            </a:r>
          </a:p>
          <a:p>
            <a:pPr marL="457200" lvl="1" indent="0" algn="just">
              <a:lnSpc>
                <a:spcPct val="150000"/>
              </a:lnSpc>
              <a:buNone/>
            </a:pPr>
            <a:r>
              <a:rPr lang="pt-BR" sz="1200" dirty="0">
                <a:latin typeface="Ubuntu Thin" panose="020B0304030602030204" charset="0"/>
                <a:cs typeface="Ubuntu Thin" panose="020B0304030602030204" charset="0"/>
              </a:rPr>
              <a:t>Node main.js</a:t>
            </a:r>
          </a:p>
          <a:p>
            <a:pPr marL="457200" lvl="1" indent="0" algn="just">
              <a:lnSpc>
                <a:spcPct val="150000"/>
              </a:lnSpc>
              <a:buNone/>
            </a:pPr>
            <a:r>
              <a:rPr lang="pt-BR" sz="1200" dirty="0">
                <a:latin typeface="Ubuntu Thin" panose="020B0304030602030204" charset="0"/>
                <a:cs typeface="Ubuntu Thin" panose="020B0304030602030204" charset="0"/>
              </a:rPr>
              <a:t>Você verá no seguinte resultado</a:t>
            </a:r>
          </a:p>
          <a:p>
            <a:pPr lvl="1" algn="just">
              <a:lnSpc>
                <a:spcPct val="150000"/>
              </a:lnSpc>
            </a:pPr>
            <a:endParaRPr lang="pt-BR" sz="1200" dirty="0">
              <a:latin typeface="Ubuntu Thin" panose="020B0304030602030204" charset="0"/>
              <a:cs typeface="Ubuntu Thin" panose="020B0304030602030204" charset="0"/>
            </a:endParaRPr>
          </a:p>
          <a:p>
            <a:pPr algn="just">
              <a:lnSpc>
                <a:spcPct val="150000"/>
              </a:lnSpc>
            </a:pPr>
            <a:endParaRPr lang="pt-BR" sz="1600" dirty="0">
              <a:latin typeface="Ubuntu Thin" panose="020B0304030602030204" charset="0"/>
              <a:cs typeface="Ubuntu Thin" panose="020B0304030602030204" charset="0"/>
            </a:endParaRPr>
          </a:p>
        </p:txBody>
      </p:sp>
      <p:pic>
        <p:nvPicPr>
          <p:cNvPr id="5" name="Imagem 4"/>
          <p:cNvPicPr>
            <a:picLocks noChangeAspect="1"/>
          </p:cNvPicPr>
          <p:nvPr/>
        </p:nvPicPr>
        <p:blipFill>
          <a:blip r:embed="rId3"/>
          <a:stretch>
            <a:fillRect/>
          </a:stretch>
        </p:blipFill>
        <p:spPr>
          <a:xfrm>
            <a:off x="5942062" y="1593569"/>
            <a:ext cx="4947697" cy="2020525"/>
          </a:xfrm>
          <a:prstGeom prst="rect">
            <a:avLst/>
          </a:prstGeom>
        </p:spPr>
      </p:pic>
      <p:pic>
        <p:nvPicPr>
          <p:cNvPr id="7" name="Imagem 6"/>
          <p:cNvPicPr>
            <a:picLocks noChangeAspect="1"/>
          </p:cNvPicPr>
          <p:nvPr/>
        </p:nvPicPr>
        <p:blipFill>
          <a:blip r:embed="rId4"/>
          <a:stretch>
            <a:fillRect/>
          </a:stretch>
        </p:blipFill>
        <p:spPr>
          <a:xfrm>
            <a:off x="5970197" y="5325463"/>
            <a:ext cx="5010150" cy="92392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5086715" cy="3979585"/>
          </a:xfrm>
        </p:spPr>
        <p:txBody>
          <a:bodyPr anchor="ctr">
            <a:normAutofit/>
          </a:bodyPr>
          <a:lstStyle/>
          <a:p>
            <a:pPr marL="0" indent="0" algn="l">
              <a:buNone/>
            </a:pPr>
            <a:r>
              <a:rPr lang="pt-BR" sz="1500" b="1" dirty="0">
                <a:latin typeface="Ubuntu Thin" panose="020B0304030602030204" charset="0"/>
                <a:cs typeface="Ubuntu Thin" panose="020B0304030602030204" charset="0"/>
              </a:rPr>
              <a:t>Exemplo de código sem bloqueio</a:t>
            </a:r>
          </a:p>
          <a:p>
            <a:pPr marL="0" indent="0" algn="just">
              <a:buNone/>
            </a:pPr>
            <a:r>
              <a:rPr lang="pt-BR" sz="1500" b="0" i="0" dirty="0">
                <a:solidFill>
                  <a:srgbClr val="000000"/>
                </a:solidFill>
                <a:effectLst/>
                <a:latin typeface="Ubuntu Thin" panose="020B0304030602030204" charset="0"/>
                <a:cs typeface="Ubuntu Thin" panose="020B0304030602030204" charset="0"/>
              </a:rPr>
              <a:t>Vamos continuar com o mesmo texto(input.txt)</a:t>
            </a:r>
          </a:p>
          <a:p>
            <a:pPr marL="0" indent="0" algn="just">
              <a:buNone/>
            </a:pPr>
            <a:r>
              <a:rPr lang="pt-BR" sz="1500" b="0" i="0" dirty="0">
                <a:solidFill>
                  <a:srgbClr val="000000"/>
                </a:solidFill>
                <a:effectLst/>
                <a:latin typeface="Ubuntu Thin" panose="020B0304030602030204" charset="0"/>
                <a:cs typeface="Ubuntu Thin" panose="020B0304030602030204" charset="0"/>
              </a:rPr>
              <a:t>Agora</a:t>
            </a:r>
            <a:r>
              <a:rPr lang="pt-BR" sz="1500" dirty="0">
                <a:solidFill>
                  <a:srgbClr val="000000"/>
                </a:solidFill>
                <a:latin typeface="Ubuntu Thin" panose="020B0304030602030204" charset="0"/>
                <a:cs typeface="Ubuntu Thin" panose="020B0304030602030204" charset="0"/>
              </a:rPr>
              <a:t>, altere o conteúdo do arquivo main.js</a:t>
            </a:r>
          </a:p>
          <a:p>
            <a:pPr marL="0" indent="0" algn="just">
              <a:buNone/>
            </a:pPr>
            <a:endParaRPr lang="pt-BR" sz="1500" b="0" i="0" dirty="0">
              <a:solidFill>
                <a:srgbClr val="000000"/>
              </a:solidFill>
              <a:effectLst/>
              <a:latin typeface="Ubuntu Thin" panose="020B0304030602030204" charset="0"/>
              <a:cs typeface="Ubuntu Thin" panose="020B0304030602030204" charset="0"/>
            </a:endParaRPr>
          </a:p>
        </p:txBody>
      </p:sp>
      <p:sp>
        <p:nvSpPr>
          <p:cNvPr id="13" name="Espaço Reservado para Conteúdo 2"/>
          <p:cNvSpPr txBox="1"/>
          <p:nvPr/>
        </p:nvSpPr>
        <p:spPr>
          <a:xfrm>
            <a:off x="5873189" y="518460"/>
            <a:ext cx="5086715" cy="564077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pt-BR" sz="1500" dirty="0">
                <a:latin typeface="Ubuntu Thin" panose="020B0304030602030204" charset="0"/>
                <a:cs typeface="Ubuntu Thin" panose="020B0304030602030204" charset="0"/>
              </a:rPr>
              <a:t>Ao executar a aplicação com o comando node main.js no terminal, teremos a seguinte saída:</a:t>
            </a:r>
          </a:p>
          <a:p>
            <a:pPr marL="0" indent="0" algn="just">
              <a:lnSpc>
                <a:spcPct val="150000"/>
              </a:lnSpc>
              <a:buNone/>
            </a:pPr>
            <a:endParaRPr lang="pt-BR" sz="1500" dirty="0">
              <a:latin typeface="Ubuntu Thin" panose="020B0304030602030204" charset="0"/>
              <a:cs typeface="Ubuntu Thin" panose="020B0304030602030204" charset="0"/>
            </a:endParaRPr>
          </a:p>
          <a:p>
            <a:pPr algn="just">
              <a:lnSpc>
                <a:spcPct val="150000"/>
              </a:lnSpc>
            </a:pPr>
            <a:endParaRPr lang="pt-BR" sz="1500" dirty="0">
              <a:latin typeface="Ubuntu Thin" panose="020B0304030602030204" charset="0"/>
              <a:cs typeface="Ubuntu Thin" panose="020B0304030602030204" charset="0"/>
            </a:endParaRPr>
          </a:p>
          <a:p>
            <a:pPr algn="just">
              <a:lnSpc>
                <a:spcPct val="150000"/>
              </a:lnSpc>
            </a:pPr>
            <a:endParaRPr lang="pt-BR" sz="1500" dirty="0">
              <a:latin typeface="Ubuntu Thin" panose="020B0304030602030204" charset="0"/>
              <a:cs typeface="Ubuntu Thin" panose="020B0304030602030204" charset="0"/>
            </a:endParaRPr>
          </a:p>
          <a:p>
            <a:pPr marL="0" indent="0" algn="just">
              <a:lnSpc>
                <a:spcPct val="150000"/>
              </a:lnSpc>
              <a:buNone/>
            </a:pPr>
            <a:endParaRPr lang="pt-BR" sz="1500" dirty="0">
              <a:latin typeface="Ubuntu Thin" panose="020B0304030602030204" charset="0"/>
              <a:cs typeface="Ubuntu Thin" panose="020B0304030602030204" charset="0"/>
            </a:endParaRPr>
          </a:p>
          <a:p>
            <a:pPr marL="0" indent="0" algn="just">
              <a:lnSpc>
                <a:spcPct val="150000"/>
              </a:lnSpc>
              <a:buNone/>
            </a:pPr>
            <a:endParaRPr lang="pt-BR" sz="1500" dirty="0">
              <a:latin typeface="Ubuntu Thin" panose="020B0304030602030204" charset="0"/>
              <a:cs typeface="Ubuntu Thin" panose="020B0304030602030204" charset="0"/>
            </a:endParaRPr>
          </a:p>
          <a:p>
            <a:pPr algn="just">
              <a:lnSpc>
                <a:spcPct val="150000"/>
              </a:lnSpc>
            </a:pPr>
            <a:endParaRPr lang="pt-BR" sz="1500" dirty="0">
              <a:latin typeface="Ubuntu Thin" panose="020B0304030602030204" charset="0"/>
              <a:cs typeface="Ubuntu Thin" panose="020B0304030602030204" charset="0"/>
            </a:endParaRPr>
          </a:p>
        </p:txBody>
      </p:sp>
      <p:pic>
        <p:nvPicPr>
          <p:cNvPr id="6" name="Imagem 5"/>
          <p:cNvPicPr>
            <a:picLocks noChangeAspect="1"/>
          </p:cNvPicPr>
          <p:nvPr/>
        </p:nvPicPr>
        <p:blipFill>
          <a:blip r:embed="rId3"/>
          <a:stretch>
            <a:fillRect/>
          </a:stretch>
        </p:blipFill>
        <p:spPr>
          <a:xfrm>
            <a:off x="169472" y="4814803"/>
            <a:ext cx="4968446" cy="1495425"/>
          </a:xfrm>
          <a:prstGeom prst="rect">
            <a:avLst/>
          </a:prstGeom>
        </p:spPr>
      </p:pic>
      <p:pic>
        <p:nvPicPr>
          <p:cNvPr id="9" name="Imagem 8"/>
          <p:cNvPicPr>
            <a:picLocks noChangeAspect="1"/>
          </p:cNvPicPr>
          <p:nvPr/>
        </p:nvPicPr>
        <p:blipFill>
          <a:blip r:embed="rId4"/>
          <a:stretch>
            <a:fillRect/>
          </a:stretch>
        </p:blipFill>
        <p:spPr>
          <a:xfrm>
            <a:off x="6006398" y="2543443"/>
            <a:ext cx="5029200" cy="107632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371791" y="2233212"/>
            <a:ext cx="5086715" cy="3979585"/>
          </a:xfrm>
        </p:spPr>
        <p:txBody>
          <a:bodyPr anchor="ctr">
            <a:normAutofit/>
          </a:bodyPr>
          <a:lstStyle/>
          <a:p>
            <a:pPr marL="0" indent="0">
              <a:buNone/>
            </a:pPr>
            <a:r>
              <a:rPr lang="pt-BR" sz="1500" b="1" dirty="0">
                <a:latin typeface="Ubuntu Thin" panose="020B0304030602030204" charset="0"/>
                <a:cs typeface="Ubuntu Thin" panose="020B0304030602030204" charset="0"/>
              </a:rPr>
              <a:t>Esses dois exemplos explicam o conceito de chamadas bloqueadoras e não bloqueadoras.</a:t>
            </a:r>
          </a:p>
          <a:p>
            <a:pPr algn="just">
              <a:buFont typeface="Arial" panose="02080604020202020204" pitchFamily="34" charset="0"/>
              <a:buChar char="•"/>
            </a:pPr>
            <a:r>
              <a:rPr lang="pt-BR" sz="1500" b="0" i="0" dirty="0">
                <a:solidFill>
                  <a:srgbClr val="000000"/>
                </a:solidFill>
                <a:effectLst/>
                <a:latin typeface="Ubuntu Thin" panose="020B0304030602030204" charset="0"/>
                <a:cs typeface="Ubuntu Thin" panose="020B0304030602030204" charset="0"/>
              </a:rPr>
              <a:t>O primeiro exemplo mostra que o programa bloqueia até ler o arquivo e só então prossegue para encerrar o programa.</a:t>
            </a:r>
          </a:p>
          <a:p>
            <a:pPr algn="just">
              <a:buFont typeface="Arial" panose="02080604020202020204" pitchFamily="34" charset="0"/>
              <a:buChar char="•"/>
            </a:pPr>
            <a:r>
              <a:rPr lang="pt-BR" sz="1500" b="0" i="0" dirty="0">
                <a:solidFill>
                  <a:srgbClr val="000000"/>
                </a:solidFill>
                <a:effectLst/>
                <a:latin typeface="Ubuntu Thin" panose="020B0304030602030204" charset="0"/>
                <a:cs typeface="Ubuntu Thin" panose="020B0304030602030204" charset="0"/>
              </a:rPr>
              <a:t>O segundo exemplo mostra que o programa não espera a leitura do arquivo e passa a imprimir "Programa finalizado" e ao mesmo tempo, o programa sem bloqueio continua lendo o arquivo</a:t>
            </a:r>
          </a:p>
          <a:p>
            <a:pPr algn="just">
              <a:buFont typeface="Arial" panose="02080604020202020204" pitchFamily="34" charset="0"/>
              <a:buChar char="•"/>
            </a:pPr>
            <a:endParaRPr lang="pt-BR" sz="1500" dirty="0">
              <a:solidFill>
                <a:srgbClr val="000000"/>
              </a:solidFill>
              <a:latin typeface="Ubuntu Thin" panose="020B0304030602030204" charset="0"/>
              <a:cs typeface="Ubuntu Thin" panose="020B0304030602030204" charset="0"/>
            </a:endParaRPr>
          </a:p>
          <a:p>
            <a:pPr algn="just">
              <a:buFont typeface="Arial" panose="02080604020202020204" pitchFamily="34" charset="0"/>
              <a:buChar char="•"/>
            </a:pPr>
            <a:endParaRPr lang="pt-BR" sz="1500" b="0" i="0" dirty="0">
              <a:solidFill>
                <a:srgbClr val="000000"/>
              </a:solidFill>
              <a:effectLst/>
              <a:latin typeface="Ubuntu Thin" panose="020B0304030602030204" charset="0"/>
              <a:cs typeface="Ubuntu Thin" panose="020B0304030602030204" charset="0"/>
            </a:endParaRPr>
          </a:p>
          <a:p>
            <a:pPr algn="just">
              <a:buFont typeface="Arial" panose="02080604020202020204" pitchFamily="34" charset="0"/>
              <a:buChar char="•"/>
            </a:pPr>
            <a:endParaRPr lang="pt-BR" sz="1500" dirty="0">
              <a:solidFill>
                <a:srgbClr val="000000"/>
              </a:solidFill>
              <a:latin typeface="Ubuntu Thin" panose="020B0304030602030204" charset="0"/>
              <a:cs typeface="Ubuntu Thin" panose="020B0304030602030204" charset="0"/>
            </a:endParaRPr>
          </a:p>
          <a:p>
            <a:pPr algn="just">
              <a:buFont typeface="Arial" panose="02080604020202020204" pitchFamily="34" charset="0"/>
              <a:buChar char="•"/>
            </a:pPr>
            <a:endParaRPr lang="pt-BR" sz="1500" b="0" i="0" dirty="0">
              <a:solidFill>
                <a:srgbClr val="000000"/>
              </a:solidFill>
              <a:effectLst/>
              <a:latin typeface="Ubuntu Thin" panose="020B0304030602030204" charset="0"/>
              <a:cs typeface="Ubuntu Thin" panose="020B0304030602030204" charset="0"/>
            </a:endParaRPr>
          </a:p>
          <a:p>
            <a:pPr algn="just">
              <a:buFont typeface="Arial" panose="02080604020202020204" pitchFamily="34" charset="0"/>
              <a:buChar char="•"/>
            </a:pPr>
            <a:endParaRPr lang="pt-BR" sz="1500" b="0" i="0" dirty="0">
              <a:solidFill>
                <a:srgbClr val="000000"/>
              </a:solidFill>
              <a:effectLst/>
              <a:latin typeface="Ubuntu Thin" panose="020B0304030602030204" charset="0"/>
              <a:cs typeface="Ubuntu Thin" panose="020B0304030602030204" charset="0"/>
            </a:endParaRPr>
          </a:p>
          <a:p>
            <a:pPr marL="0" indent="0">
              <a:buNone/>
            </a:pPr>
            <a:endParaRPr lang="pt-BR" sz="1500" b="1" dirty="0">
              <a:latin typeface="Ubuntu Thin" panose="020B0304030602030204" charset="0"/>
              <a:cs typeface="Ubuntu Thin" panose="020B0304030602030204" charset="0"/>
            </a:endParaRPr>
          </a:p>
        </p:txBody>
      </p:sp>
      <p:sp>
        <p:nvSpPr>
          <p:cNvPr id="13" name="Espaço Reservado para Conteúdo 2"/>
          <p:cNvSpPr txBox="1"/>
          <p:nvPr/>
        </p:nvSpPr>
        <p:spPr>
          <a:xfrm>
            <a:off x="5873189" y="518460"/>
            <a:ext cx="5086715" cy="564077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pt-BR" sz="1500" b="0" i="0" dirty="0">
                <a:solidFill>
                  <a:srgbClr val="000000"/>
                </a:solidFill>
                <a:effectLst/>
                <a:latin typeface="Ubuntu Thin" panose="020B0304030602030204" charset="0"/>
                <a:cs typeface="Ubuntu Thin" panose="020B0304030602030204" charset="0"/>
              </a:rPr>
              <a:t>Assim, um programa de bloqueio executa muito em sequência. Do ponto de vista da programação, é mais fácil implementar a lógica, mas os programas sem bloqueio não são executados em sequência. Caso um programa necessite utilizar algum dado para ser processado, ele deve ser mantido dentro do mesmo bloco para sua execução sequencial.</a:t>
            </a:r>
            <a:endParaRPr lang="pt-BR" sz="1500" dirty="0">
              <a:latin typeface="Ubuntu Thin" panose="020B0304030602030204" charset="0"/>
              <a:cs typeface="Ubuntu Thin" panose="020B0304030602030204" charset="0"/>
            </a:endParaRPr>
          </a:p>
          <a:p>
            <a:pPr algn="just">
              <a:lnSpc>
                <a:spcPct val="150000"/>
              </a:lnSpc>
            </a:pPr>
            <a:endParaRPr lang="pt-BR" sz="1500" dirty="0">
              <a:latin typeface="Ubuntu Thin" panose="020B0304030602030204" charset="0"/>
              <a:cs typeface="Ubuntu Thin" panose="020B0304030602030204" charset="0"/>
            </a:endParaRPr>
          </a:p>
          <a:p>
            <a:pPr marL="0" indent="0" algn="just">
              <a:lnSpc>
                <a:spcPct val="150000"/>
              </a:lnSpc>
              <a:buNone/>
            </a:pPr>
            <a:endParaRPr lang="pt-BR" sz="1500" dirty="0">
              <a:latin typeface="Ubuntu Thin" panose="020B0304030602030204" charset="0"/>
              <a:cs typeface="Ubuntu Thin" panose="020B0304030602030204" charset="0"/>
            </a:endParaRPr>
          </a:p>
          <a:p>
            <a:pPr marL="0" indent="0" algn="just">
              <a:lnSpc>
                <a:spcPct val="150000"/>
              </a:lnSpc>
              <a:buNone/>
            </a:pPr>
            <a:endParaRPr lang="pt-BR" sz="1500" dirty="0">
              <a:latin typeface="Ubuntu Thin" panose="020B0304030602030204" charset="0"/>
              <a:cs typeface="Ubuntu Thin" panose="020B0304030602030204" charset="0"/>
            </a:endParaRPr>
          </a:p>
          <a:p>
            <a:pPr algn="just">
              <a:lnSpc>
                <a:spcPct val="150000"/>
              </a:lnSpc>
            </a:pPr>
            <a:endParaRPr lang="pt-BR" sz="1500" dirty="0">
              <a:latin typeface="Ubuntu Thin" panose="020B0304030602030204" charset="0"/>
              <a:cs typeface="Ubuntu Thin" panose="020B0304030602030204" charset="0"/>
            </a:endParaRPr>
          </a:p>
        </p:txBody>
      </p:sp>
      <p:pic>
        <p:nvPicPr>
          <p:cNvPr id="9" name="Imagem 8"/>
          <p:cNvPicPr>
            <a:picLocks noChangeAspect="1"/>
          </p:cNvPicPr>
          <p:nvPr/>
        </p:nvPicPr>
        <p:blipFill>
          <a:blip r:embed="rId3"/>
          <a:stretch>
            <a:fillRect/>
          </a:stretch>
        </p:blipFill>
        <p:spPr>
          <a:xfrm>
            <a:off x="2266502" y="5665345"/>
            <a:ext cx="5029200" cy="1076325"/>
          </a:xfrm>
          <a:prstGeom prst="rect">
            <a:avLst/>
          </a:prstGeom>
        </p:spPr>
      </p:pic>
      <p:pic>
        <p:nvPicPr>
          <p:cNvPr id="4" name="Imagem 3"/>
          <p:cNvPicPr>
            <a:picLocks noChangeAspect="1"/>
          </p:cNvPicPr>
          <p:nvPr/>
        </p:nvPicPr>
        <p:blipFill>
          <a:blip r:embed="rId4"/>
          <a:stretch>
            <a:fillRect/>
          </a:stretch>
        </p:blipFill>
        <p:spPr>
          <a:xfrm>
            <a:off x="144487" y="4501346"/>
            <a:ext cx="5010150" cy="923925"/>
          </a:xfrm>
          <a:prstGeom prst="rect">
            <a:avLst/>
          </a:prstGeom>
        </p:spPr>
      </p:pic>
      <p:sp>
        <p:nvSpPr>
          <p:cNvPr id="5" name="Elipse 4"/>
          <p:cNvSpPr/>
          <p:nvPr/>
        </p:nvSpPr>
        <p:spPr>
          <a:xfrm>
            <a:off x="-125032" y="4861932"/>
            <a:ext cx="1909227" cy="563339"/>
          </a:xfrm>
          <a:prstGeom prst="ellipse">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2318956" y="5698415"/>
            <a:ext cx="1909227" cy="563339"/>
          </a:xfrm>
          <a:prstGeom prst="ellipse">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889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Ubuntu Thin" panose="020B0304030602030204" charset="0"/>
              <a:cs typeface="Ubuntu Thin" panose="020B0304030602030204" charset="0"/>
            </a:endParaRPr>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87363" y="3142865"/>
            <a:ext cx="5371143" cy="2876735"/>
          </a:xfrm>
        </p:spPr>
        <p:txBody>
          <a:bodyPr anchor="ctr">
            <a:normAutofit fontScale="90000" lnSpcReduction="10000"/>
          </a:bodyPr>
          <a:lstStyle/>
          <a:p>
            <a:pPr marL="0" indent="0">
              <a:buNone/>
            </a:pPr>
            <a:r>
              <a:rPr lang="pt-BR" sz="1500" b="1" dirty="0">
                <a:latin typeface="Ubuntu Thin" panose="020B0304030602030204" charset="0"/>
                <a:cs typeface="Ubuntu Thin" panose="020B0304030602030204" charset="0"/>
              </a:rPr>
              <a:t>Loop de Eventos</a:t>
            </a:r>
          </a:p>
          <a:p>
            <a:pPr algn="just">
              <a:lnSpc>
                <a:spcPct val="150000"/>
              </a:lnSpc>
              <a:buFont typeface="Arial" panose="02080604020202020204" pitchFamily="34" charset="0"/>
              <a:buChar char="•"/>
            </a:pPr>
            <a:r>
              <a:rPr lang="pt-BR" sz="1500" dirty="0">
                <a:solidFill>
                  <a:srgbClr val="000000"/>
                </a:solidFill>
                <a:latin typeface="Ubuntu Thin" panose="020B0304030602030204" charset="0"/>
                <a:cs typeface="Ubuntu Thin" panose="020B0304030602030204" charset="0"/>
              </a:rPr>
              <a:t>O Node.js é um aplicativo de thread único, mas pode oferecer suporte à simultaneidade por meio do conceito de evento e </a:t>
            </a:r>
            <a:r>
              <a:rPr lang="pt-BR" sz="1500" dirty="0" err="1">
                <a:solidFill>
                  <a:srgbClr val="000000"/>
                </a:solidFill>
                <a:latin typeface="Ubuntu Thin" panose="020B0304030602030204" charset="0"/>
                <a:cs typeface="Ubuntu Thin" panose="020B0304030602030204" charset="0"/>
              </a:rPr>
              <a:t>callbacks</a:t>
            </a:r>
            <a:r>
              <a:rPr lang="pt-BR" sz="1500" dirty="0">
                <a:solidFill>
                  <a:srgbClr val="000000"/>
                </a:solidFill>
                <a:latin typeface="Ubuntu Thin" panose="020B0304030602030204" charset="0"/>
                <a:cs typeface="Ubuntu Thin" panose="020B0304030602030204" charset="0"/>
              </a:rPr>
              <a:t> . Cada API do Node.js é assíncrona e de thread único, eles usam chamadas de função assíncrona para manter a simultaneidade. Node usa padrão de observador. A thread do node mantém um loop de eventos e sempre que uma tarefa é concluída, ela dispara o evento correspondente que sinaliza a execução da função de ouvinte de eventos.</a:t>
            </a:r>
          </a:p>
          <a:p>
            <a:pPr algn="just">
              <a:buFont typeface="Arial" panose="02080604020202020204" pitchFamily="34" charset="0"/>
              <a:buChar char="•"/>
            </a:pPr>
            <a:endParaRPr lang="pt-BR" sz="1500" dirty="0">
              <a:solidFill>
                <a:srgbClr val="000000"/>
              </a:solidFill>
              <a:latin typeface="Ubuntu Thin" panose="020B0304030602030204" charset="0"/>
              <a:cs typeface="Ubuntu Thin" panose="020B0304030602030204" charset="0"/>
            </a:endParaRPr>
          </a:p>
          <a:p>
            <a:pPr algn="just">
              <a:buFont typeface="Arial" panose="02080604020202020204" pitchFamily="34" charset="0"/>
              <a:buChar char="•"/>
            </a:pPr>
            <a:endParaRPr lang="pt-BR" sz="1500" b="0" i="0" dirty="0">
              <a:solidFill>
                <a:srgbClr val="000000"/>
              </a:solidFill>
              <a:effectLst/>
              <a:latin typeface="Ubuntu Thin" panose="020B0304030602030204" charset="0"/>
              <a:cs typeface="Ubuntu Thin" panose="020B0304030602030204" charset="0"/>
            </a:endParaRPr>
          </a:p>
          <a:p>
            <a:pPr algn="just">
              <a:buFont typeface="Arial" panose="02080604020202020204" pitchFamily="34" charset="0"/>
              <a:buChar char="•"/>
            </a:pPr>
            <a:endParaRPr lang="pt-BR" sz="1500" b="0" i="0" dirty="0">
              <a:solidFill>
                <a:srgbClr val="000000"/>
              </a:solidFill>
              <a:effectLst/>
              <a:latin typeface="Ubuntu Thin" panose="020B0304030602030204" charset="0"/>
              <a:cs typeface="Ubuntu Thin" panose="020B0304030602030204" charset="0"/>
            </a:endParaRPr>
          </a:p>
          <a:p>
            <a:pPr marL="0" indent="0">
              <a:buNone/>
            </a:pPr>
            <a:endParaRPr lang="pt-BR" sz="1500" b="1" dirty="0">
              <a:latin typeface="Ubuntu Thin" panose="020B0304030602030204" charset="0"/>
              <a:cs typeface="Ubuntu Thin" panose="020B0304030602030204" charset="0"/>
            </a:endParaRPr>
          </a:p>
        </p:txBody>
      </p:sp>
      <p:sp>
        <p:nvSpPr>
          <p:cNvPr id="13" name="Espaço Reservado para Conteúdo 2"/>
          <p:cNvSpPr txBox="1"/>
          <p:nvPr/>
        </p:nvSpPr>
        <p:spPr>
          <a:xfrm>
            <a:off x="5873189" y="527350"/>
            <a:ext cx="5086715" cy="564077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gn="l"/>
            <a:r>
              <a:rPr lang="pt-BR" sz="1500" b="1" dirty="0">
                <a:latin typeface="Ubuntu Thin" panose="020B0304030602030204" charset="0"/>
                <a:cs typeface="Ubuntu Thin" panose="020B0304030602030204" charset="0"/>
              </a:rPr>
              <a:t>Programação Orientada a Eventos</a:t>
            </a:r>
          </a:p>
          <a:p>
            <a:pPr algn="just">
              <a:lnSpc>
                <a:spcPct val="150000"/>
              </a:lnSpc>
            </a:pPr>
            <a:r>
              <a:rPr lang="pt-BR" sz="1500" dirty="0">
                <a:solidFill>
                  <a:srgbClr val="000000"/>
                </a:solidFill>
                <a:latin typeface="Ubuntu Thin" panose="020B0304030602030204" charset="0"/>
                <a:cs typeface="Ubuntu Thin" panose="020B0304030602030204" charset="0"/>
              </a:rPr>
              <a:t>Node.js usa eventos intensamente e também é uma das razões pelas quais o Node.js é muito rápido em comparação com outras tecnologias semelhantes. Assim que o Node inicia seu servidor, ele simplesmente inicia suas variáveis, declara funções e então simplesmente espera o evento ocorrer.</a:t>
            </a:r>
          </a:p>
          <a:p>
            <a:pPr algn="just">
              <a:lnSpc>
                <a:spcPct val="150000"/>
              </a:lnSpc>
            </a:pPr>
            <a:r>
              <a:rPr lang="pt-BR" sz="1500" dirty="0">
                <a:solidFill>
                  <a:srgbClr val="000000"/>
                </a:solidFill>
                <a:latin typeface="Ubuntu Thin" panose="020B0304030602030204" charset="0"/>
                <a:cs typeface="Ubuntu Thin" panose="020B0304030602030204" charset="0"/>
              </a:rPr>
              <a:t>Em um aplicativo orientado a eventos, geralmente há um loop principal que escuta os eventos e aciona uma função de retorno de chamada quando um desses eventos é detectado.</a:t>
            </a:r>
          </a:p>
          <a:p>
            <a:pPr algn="just">
              <a:lnSpc>
                <a:spcPct val="150000"/>
              </a:lnSpc>
            </a:pPr>
            <a:endParaRPr lang="pt-BR" sz="1500" dirty="0">
              <a:latin typeface="Ubuntu Thin" panose="020B0304030602030204" charset="0"/>
              <a:cs typeface="Ubuntu Thin" panose="020B03040306020302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Loop de event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442" y="2279186"/>
            <a:ext cx="9885227" cy="3990610"/>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87363" y="2377441"/>
            <a:ext cx="5371143" cy="914399"/>
          </a:xfrm>
        </p:spPr>
        <p:txBody>
          <a:bodyPr anchor="ctr">
            <a:normAutofit/>
          </a:bodyPr>
          <a:lstStyle/>
          <a:p>
            <a:pPr marL="0" indent="0">
              <a:buNone/>
            </a:pPr>
            <a:r>
              <a:rPr lang="pt-BR" sz="1800" b="1" dirty="0">
                <a:latin typeface="Ubuntu Thin" panose="020B0304030602030204" charset="0"/>
                <a:cs typeface="Ubuntu Thin" panose="020B0304030602030204" charset="0"/>
              </a:rPr>
              <a:t>Loop de Eventos</a:t>
            </a:r>
          </a:p>
          <a:p>
            <a:pPr marL="0" indent="0">
              <a:buNone/>
            </a:pPr>
            <a:endParaRPr lang="pt-BR" sz="1800" b="1" dirty="0">
              <a:latin typeface="Ubuntu Thin" panose="020B0304030602030204" charset="0"/>
              <a:cs typeface="Ubuntu Thin" panose="020B03040306020302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382597" y="3424348"/>
            <a:ext cx="9426806" cy="1424410"/>
          </a:xfrm>
        </p:spPr>
        <p:txBody>
          <a:bodyPr vert="horz" lIns="91440" tIns="45720" rIns="91440" bIns="45720" rtlCol="0" anchor="b">
            <a:normAutofit fontScale="90000"/>
          </a:bodyPr>
          <a:lstStyle/>
          <a:p>
            <a:pPr algn="ctr"/>
            <a:r>
              <a:rPr lang="pt-PT" altLang="en-US" sz="5400" dirty="0">
                <a:solidFill>
                  <a:srgbClr val="1B1B1B"/>
                </a:solidFill>
              </a:rPr>
              <a:t>Usando módulos Express e outros</a:t>
            </a:r>
          </a:p>
        </p:txBody>
      </p:sp>
      <p:sp>
        <p:nvSpPr>
          <p:cNvPr id="22" name="Oval 11"/>
          <p:cNvSpPr>
            <a:spLocks noGrp="1" noRot="1" noChangeAspect="1" noMove="1" noResize="1" noEditPoints="1" noAdjustHandles="1" noChangeArrowheads="1" noChangeShapeType="1" noTextEdit="1"/>
          </p:cNvSpPr>
          <p:nvPr/>
        </p:nvSpPr>
        <p:spPr>
          <a:xfrm>
            <a:off x="4908526" y="933319"/>
            <a:ext cx="2463430" cy="24860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13"/>
          <p:cNvSpPr>
            <a:spLocks noGrp="1" noRot="1" noChangeAspect="1" noMove="1" noResize="1" noEditPoints="1" noAdjustHandles="1" noChangeArrowheads="1" noChangeShapeType="1" noTextEdit="1"/>
          </p:cNvSpPr>
          <p:nvPr/>
        </p:nvSpPr>
        <p:spPr>
          <a:xfrm>
            <a:off x="5117592" y="1268361"/>
            <a:ext cx="1956816" cy="1953058"/>
          </a:xfrm>
          <a:prstGeom prst="ellipse">
            <a:avLst/>
          </a:prstGeom>
          <a:solidFill>
            <a:srgbClr val="FFFFFF"/>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15"/>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rcRect l="33525" t="5243" r="33525" b="36180"/>
          <a:stretch>
            <a:fillRect/>
          </a:stretch>
        </p:blipFill>
        <p:spPr>
          <a:xfrm>
            <a:off x="4860081" y="896194"/>
            <a:ext cx="2560320" cy="2560320"/>
          </a:xfrm>
          <a:custGeom>
            <a:avLst/>
            <a:gdLst>
              <a:gd name="connsiteX0" fmla="*/ 2008598 w 4017196"/>
              <a:gd name="connsiteY0" fmla="*/ 0 h 4017196"/>
              <a:gd name="connsiteX1" fmla="*/ 4017196 w 4017196"/>
              <a:gd name="connsiteY1" fmla="*/ 2008598 h 4017196"/>
              <a:gd name="connsiteX2" fmla="*/ 2008598 w 4017196"/>
              <a:gd name="connsiteY2" fmla="*/ 4017196 h 4017196"/>
              <a:gd name="connsiteX3" fmla="*/ 0 w 4017196"/>
              <a:gd name="connsiteY3" fmla="*/ 2008598 h 4017196"/>
              <a:gd name="connsiteX4" fmla="*/ 2008598 w 4017196"/>
              <a:gd name="connsiteY4" fmla="*/ 0 h 4017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7196" h="4017196">
                <a:moveTo>
                  <a:pt x="2008598" y="0"/>
                </a:moveTo>
                <a:cubicBezTo>
                  <a:pt x="3117916" y="0"/>
                  <a:pt x="4017196" y="899280"/>
                  <a:pt x="4017196" y="2008598"/>
                </a:cubicBezTo>
                <a:cubicBezTo>
                  <a:pt x="4017196" y="3117916"/>
                  <a:pt x="3117916" y="4017196"/>
                  <a:pt x="2008598" y="4017196"/>
                </a:cubicBezTo>
                <a:cubicBezTo>
                  <a:pt x="899280" y="4017196"/>
                  <a:pt x="0" y="3117916"/>
                  <a:pt x="0" y="2008598"/>
                </a:cubicBezTo>
                <a:cubicBezTo>
                  <a:pt x="0" y="899280"/>
                  <a:pt x="899280" y="0"/>
                  <a:pt x="2008598" y="0"/>
                </a:cubicBezTo>
                <a:close/>
              </a:path>
            </a:pathLst>
          </a:custGeom>
        </p:spPr>
      </p:pic>
      <p:pic>
        <p:nvPicPr>
          <p:cNvPr id="5" name="Picture 2" descr="TheKenyanDev: How to Restart a Node.js App Programmatically."/>
          <p:cNvPicPr>
            <a:picLocks noGrp="1" noChangeAspect="1" noChangeArrowheads="1"/>
          </p:cNvPicPr>
          <p:nvPr>
            <p:ph idx="1"/>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5181600" y="1330490"/>
            <a:ext cx="1828800" cy="1828800"/>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cxnSp>
        <p:nvCxnSpPr>
          <p:cNvPr id="25" name="Straight Connector 17"/>
          <p:cNvCxnSpPr>
            <a:cxnSpLocks noGrp="1" noRot="1" noChangeAspect="1" noMove="1" noResize="1" noEditPoints="1" noAdjustHandles="1" noChangeArrowheads="1" noChangeShapeType="1"/>
          </p:cNvCxnSpPr>
          <p:nvPr/>
        </p:nvCxnSpPr>
        <p:spPr>
          <a:xfrm>
            <a:off x="5775960" y="4971278"/>
            <a:ext cx="640080" cy="0"/>
          </a:xfrm>
          <a:prstGeom prst="line">
            <a:avLst/>
          </a:prstGeom>
          <a:ln w="28575">
            <a:solidFill>
              <a:srgbClr val="3EA94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382597" y="3424348"/>
            <a:ext cx="9426806" cy="1424410"/>
          </a:xfrm>
        </p:spPr>
        <p:txBody>
          <a:bodyPr vert="horz" lIns="91440" tIns="45720" rIns="91440" bIns="45720" rtlCol="0" anchor="b">
            <a:normAutofit fontScale="90000"/>
          </a:bodyPr>
          <a:lstStyle/>
          <a:p>
            <a:pPr algn="ctr"/>
            <a:r>
              <a:rPr lang="pt-PT" altLang="en-US" sz="5400" dirty="0">
                <a:solidFill>
                  <a:srgbClr val="1B1B1B"/>
                </a:solidFill>
              </a:rPr>
              <a:t>Usando módulos Express e outros</a:t>
            </a:r>
          </a:p>
        </p:txBody>
      </p:sp>
      <p:sp>
        <p:nvSpPr>
          <p:cNvPr id="22" name="Oval 11"/>
          <p:cNvSpPr>
            <a:spLocks noGrp="1" noRot="1" noChangeAspect="1" noMove="1" noResize="1" noEditPoints="1" noAdjustHandles="1" noChangeArrowheads="1" noChangeShapeType="1" noTextEdit="1"/>
          </p:cNvSpPr>
          <p:nvPr/>
        </p:nvSpPr>
        <p:spPr>
          <a:xfrm>
            <a:off x="4908526" y="933319"/>
            <a:ext cx="2463430" cy="24860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13"/>
          <p:cNvSpPr>
            <a:spLocks noGrp="1" noRot="1" noChangeAspect="1" noMove="1" noResize="1" noEditPoints="1" noAdjustHandles="1" noChangeArrowheads="1" noChangeShapeType="1" noTextEdit="1"/>
          </p:cNvSpPr>
          <p:nvPr/>
        </p:nvSpPr>
        <p:spPr>
          <a:xfrm>
            <a:off x="5117592" y="1268361"/>
            <a:ext cx="1956816" cy="1953058"/>
          </a:xfrm>
          <a:prstGeom prst="ellipse">
            <a:avLst/>
          </a:prstGeom>
          <a:solidFill>
            <a:srgbClr val="FFFFFF"/>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15"/>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rcRect l="33525" t="5243" r="33525" b="36180"/>
          <a:stretch>
            <a:fillRect/>
          </a:stretch>
        </p:blipFill>
        <p:spPr>
          <a:xfrm>
            <a:off x="4860081" y="896194"/>
            <a:ext cx="2560320" cy="2560320"/>
          </a:xfrm>
          <a:custGeom>
            <a:avLst/>
            <a:gdLst>
              <a:gd name="connsiteX0" fmla="*/ 2008598 w 4017196"/>
              <a:gd name="connsiteY0" fmla="*/ 0 h 4017196"/>
              <a:gd name="connsiteX1" fmla="*/ 4017196 w 4017196"/>
              <a:gd name="connsiteY1" fmla="*/ 2008598 h 4017196"/>
              <a:gd name="connsiteX2" fmla="*/ 2008598 w 4017196"/>
              <a:gd name="connsiteY2" fmla="*/ 4017196 h 4017196"/>
              <a:gd name="connsiteX3" fmla="*/ 0 w 4017196"/>
              <a:gd name="connsiteY3" fmla="*/ 2008598 h 4017196"/>
              <a:gd name="connsiteX4" fmla="*/ 2008598 w 4017196"/>
              <a:gd name="connsiteY4" fmla="*/ 0 h 4017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7196" h="4017196">
                <a:moveTo>
                  <a:pt x="2008598" y="0"/>
                </a:moveTo>
                <a:cubicBezTo>
                  <a:pt x="3117916" y="0"/>
                  <a:pt x="4017196" y="899280"/>
                  <a:pt x="4017196" y="2008598"/>
                </a:cubicBezTo>
                <a:cubicBezTo>
                  <a:pt x="4017196" y="3117916"/>
                  <a:pt x="3117916" y="4017196"/>
                  <a:pt x="2008598" y="4017196"/>
                </a:cubicBezTo>
                <a:cubicBezTo>
                  <a:pt x="899280" y="4017196"/>
                  <a:pt x="0" y="3117916"/>
                  <a:pt x="0" y="2008598"/>
                </a:cubicBezTo>
                <a:cubicBezTo>
                  <a:pt x="0" y="899280"/>
                  <a:pt x="899280" y="0"/>
                  <a:pt x="2008598" y="0"/>
                </a:cubicBezTo>
                <a:close/>
              </a:path>
            </a:pathLst>
          </a:custGeom>
        </p:spPr>
      </p:pic>
      <p:pic>
        <p:nvPicPr>
          <p:cNvPr id="5" name="Picture 2" descr="TheKenyanDev: How to Restart a Node.js App Programmatically."/>
          <p:cNvPicPr>
            <a:picLocks noGrp="1" noChangeAspect="1" noChangeArrowheads="1"/>
          </p:cNvPicPr>
          <p:nvPr>
            <p:ph idx="1"/>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5181600" y="1330490"/>
            <a:ext cx="1828800" cy="1828800"/>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cxnSp>
        <p:nvCxnSpPr>
          <p:cNvPr id="25" name="Straight Connector 17"/>
          <p:cNvCxnSpPr>
            <a:cxnSpLocks noGrp="1" noRot="1" noChangeAspect="1" noMove="1" noResize="1" noEditPoints="1" noAdjustHandles="1" noChangeArrowheads="1" noChangeShapeType="1"/>
          </p:cNvCxnSpPr>
          <p:nvPr/>
        </p:nvCxnSpPr>
        <p:spPr>
          <a:xfrm>
            <a:off x="5775960" y="4971278"/>
            <a:ext cx="640080" cy="0"/>
          </a:xfrm>
          <a:prstGeom prst="line">
            <a:avLst/>
          </a:prstGeom>
          <a:ln w="28575">
            <a:solidFill>
              <a:srgbClr val="3EA94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Vamos criar um novo projeto chamado UsoModulos e vamos iniciar no node assim com instalar os módulos do Express e o Módulo criado por nós.</a:t>
            </a:r>
          </a:p>
          <a:p>
            <a:pPr marL="0" indent="0">
              <a:lnSpc>
                <a:spcPct val="150000"/>
              </a:lnSpc>
              <a:buNone/>
            </a:pPr>
            <a:r>
              <a:rPr lang="pt-PT" altLang="pt-BR" sz="1800" b="1" dirty="0">
                <a:latin typeface="Ubuntu Thin" panose="020B0304030602030204" charset="0"/>
                <a:cs typeface="Ubuntu Thin" panose="020B0304030602030204" charset="0"/>
              </a:rPr>
              <a:t>Obs.: crie um arquivo de entry point chamado index.js</a:t>
            </a:r>
          </a:p>
          <a:p>
            <a:pPr marL="0" indent="0">
              <a:lnSpc>
                <a:spcPct val="150000"/>
              </a:lnSpc>
              <a:buNone/>
            </a:pPr>
            <a:r>
              <a:rPr lang="pt-PT" altLang="pt-BR" sz="1800" b="1" dirty="0">
                <a:latin typeface="Ubuntu Thin" panose="020B0304030602030204" charset="0"/>
                <a:cs typeface="Ubuntu Thin" panose="020B0304030602030204" charset="0"/>
              </a:rPr>
              <a:t>Veja como ficou nosso package.json</a:t>
            </a:r>
          </a:p>
          <a:p>
            <a:pPr marL="0" indent="0">
              <a:buNone/>
            </a:pPr>
            <a:endParaRPr lang="pt-PT" altLang="pt-BR" sz="1600" dirty="0">
              <a:solidFill>
                <a:srgbClr val="000000"/>
              </a:solidFill>
              <a:latin typeface="Ubuntu Thin" panose="020B0304030602030204" charset="0"/>
              <a:cs typeface="Ubuntu Thin" panose="020B0304030602030204" charset="0"/>
            </a:endParaRPr>
          </a:p>
        </p:txBody>
      </p:sp>
      <p:sp>
        <p:nvSpPr>
          <p:cNvPr id="13" name="Espaço Reservado para Conteúdo 2"/>
          <p:cNvSpPr txBox="1"/>
          <p:nvPr/>
        </p:nvSpPr>
        <p:spPr>
          <a:xfrm>
            <a:off x="5873189" y="509570"/>
            <a:ext cx="5086715" cy="564077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pt-PT" altLang="pt-BR" sz="1600" dirty="0">
              <a:latin typeface="Ubuntu Thin" panose="020B0304030602030204" charset="0"/>
              <a:cs typeface="Ubuntu Thin" panose="020B0304030602030204" charset="0"/>
            </a:endParaRPr>
          </a:p>
        </p:txBody>
      </p:sp>
      <p:pic>
        <p:nvPicPr>
          <p:cNvPr id="4" name="Picture 3"/>
          <p:cNvPicPr>
            <a:picLocks noChangeAspect="1"/>
          </p:cNvPicPr>
          <p:nvPr/>
        </p:nvPicPr>
        <p:blipFill>
          <a:blip r:embed="rId3"/>
          <a:stretch>
            <a:fillRect/>
          </a:stretch>
        </p:blipFill>
        <p:spPr>
          <a:xfrm>
            <a:off x="5561330" y="855980"/>
            <a:ext cx="6134100" cy="44227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vamos abrir o arquivo index.js e códificá-lo como ao lado.</a:t>
            </a:r>
          </a:p>
          <a:p>
            <a:pPr marL="0" indent="0">
              <a:buNone/>
            </a:pPr>
            <a:endParaRPr lang="pt-PT" altLang="pt-BR" sz="1600" dirty="0">
              <a:solidFill>
                <a:srgbClr val="000000"/>
              </a:solidFill>
              <a:latin typeface="Ubuntu Thin" panose="020B0304030602030204" charset="0"/>
              <a:cs typeface="Ubuntu Thin" panose="020B0304030602030204" charset="0"/>
            </a:endParaRPr>
          </a:p>
        </p:txBody>
      </p:sp>
      <p:sp>
        <p:nvSpPr>
          <p:cNvPr id="13" name="Espaço Reservado para Conteúdo 2"/>
          <p:cNvSpPr txBox="1"/>
          <p:nvPr/>
        </p:nvSpPr>
        <p:spPr>
          <a:xfrm>
            <a:off x="5873189" y="509570"/>
            <a:ext cx="5086715" cy="564077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pt-PT" altLang="pt-BR" sz="1600" dirty="0">
              <a:latin typeface="Ubuntu Thin" panose="020B0304030602030204" charset="0"/>
              <a:cs typeface="Ubuntu Thin" panose="020B0304030602030204" charset="0"/>
            </a:endParaRPr>
          </a:p>
        </p:txBody>
      </p:sp>
      <p:pic>
        <p:nvPicPr>
          <p:cNvPr id="5" name="Picture 4"/>
          <p:cNvPicPr>
            <a:picLocks noChangeAspect="1"/>
          </p:cNvPicPr>
          <p:nvPr/>
        </p:nvPicPr>
        <p:blipFill>
          <a:blip r:embed="rId3"/>
          <a:stretch>
            <a:fillRect/>
          </a:stretch>
        </p:blipFill>
        <p:spPr>
          <a:xfrm>
            <a:off x="5873115" y="655955"/>
            <a:ext cx="5810250" cy="437896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Vamos testar nosso código e ver como ficou.</a:t>
            </a:r>
          </a:p>
          <a:p>
            <a:pPr marL="0" indent="0">
              <a:buNone/>
            </a:pPr>
            <a:endParaRPr lang="pt-PT" altLang="pt-BR" sz="1600" dirty="0">
              <a:solidFill>
                <a:srgbClr val="000000"/>
              </a:solidFill>
              <a:latin typeface="Ubuntu Thin" panose="020B0304030602030204" charset="0"/>
              <a:cs typeface="Ubuntu Thin" panose="020B0304030602030204" charset="0"/>
            </a:endParaRPr>
          </a:p>
        </p:txBody>
      </p:sp>
      <p:sp>
        <p:nvSpPr>
          <p:cNvPr id="13" name="Espaço Reservado para Conteúdo 2"/>
          <p:cNvSpPr txBox="1"/>
          <p:nvPr/>
        </p:nvSpPr>
        <p:spPr>
          <a:xfrm>
            <a:off x="5873189" y="509570"/>
            <a:ext cx="5086715" cy="564077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pt-PT" altLang="pt-BR" sz="1600" dirty="0">
              <a:latin typeface="Ubuntu Thin" panose="020B0304030602030204" charset="0"/>
              <a:cs typeface="Ubuntu Thin" panose="020B0304030602030204" charset="0"/>
            </a:endParaRPr>
          </a:p>
        </p:txBody>
      </p:sp>
      <p:pic>
        <p:nvPicPr>
          <p:cNvPr id="4" name="Picture 3"/>
          <p:cNvPicPr>
            <a:picLocks noChangeAspect="1"/>
          </p:cNvPicPr>
          <p:nvPr/>
        </p:nvPicPr>
        <p:blipFill>
          <a:blip r:embed="rId3"/>
          <a:stretch>
            <a:fillRect/>
          </a:stretch>
        </p:blipFill>
        <p:spPr>
          <a:xfrm>
            <a:off x="5608955" y="1139190"/>
            <a:ext cx="6086475" cy="43815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382597" y="3424348"/>
            <a:ext cx="9426806" cy="1424410"/>
          </a:xfrm>
        </p:spPr>
        <p:txBody>
          <a:bodyPr vert="horz" lIns="91440" tIns="45720" rIns="91440" bIns="45720" rtlCol="0" anchor="b">
            <a:normAutofit/>
          </a:bodyPr>
          <a:lstStyle/>
          <a:p>
            <a:pPr algn="ctr"/>
            <a:r>
              <a:rPr lang="pt-PT" altLang="en-US" sz="5400" dirty="0">
                <a:solidFill>
                  <a:srgbClr val="1B1B1B"/>
                </a:solidFill>
              </a:rPr>
              <a:t>Middlewares</a:t>
            </a:r>
          </a:p>
        </p:txBody>
      </p:sp>
      <p:sp>
        <p:nvSpPr>
          <p:cNvPr id="22" name="Oval 11"/>
          <p:cNvSpPr>
            <a:spLocks noGrp="1" noRot="1" noChangeAspect="1" noMove="1" noResize="1" noEditPoints="1" noAdjustHandles="1" noChangeArrowheads="1" noChangeShapeType="1" noTextEdit="1"/>
          </p:cNvSpPr>
          <p:nvPr/>
        </p:nvSpPr>
        <p:spPr>
          <a:xfrm>
            <a:off x="4908526" y="933319"/>
            <a:ext cx="2463430" cy="24860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13"/>
          <p:cNvSpPr>
            <a:spLocks noGrp="1" noRot="1" noChangeAspect="1" noMove="1" noResize="1" noEditPoints="1" noAdjustHandles="1" noChangeArrowheads="1" noChangeShapeType="1" noTextEdit="1"/>
          </p:cNvSpPr>
          <p:nvPr/>
        </p:nvSpPr>
        <p:spPr>
          <a:xfrm>
            <a:off x="5117592" y="1268361"/>
            <a:ext cx="1956816" cy="1953058"/>
          </a:xfrm>
          <a:prstGeom prst="ellipse">
            <a:avLst/>
          </a:prstGeom>
          <a:solidFill>
            <a:srgbClr val="FFFFFF"/>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15"/>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rcRect l="33525" t="5243" r="33525" b="36180"/>
          <a:stretch>
            <a:fillRect/>
          </a:stretch>
        </p:blipFill>
        <p:spPr>
          <a:xfrm>
            <a:off x="4860081" y="896194"/>
            <a:ext cx="2560320" cy="2560320"/>
          </a:xfrm>
          <a:custGeom>
            <a:avLst/>
            <a:gdLst>
              <a:gd name="connsiteX0" fmla="*/ 2008598 w 4017196"/>
              <a:gd name="connsiteY0" fmla="*/ 0 h 4017196"/>
              <a:gd name="connsiteX1" fmla="*/ 4017196 w 4017196"/>
              <a:gd name="connsiteY1" fmla="*/ 2008598 h 4017196"/>
              <a:gd name="connsiteX2" fmla="*/ 2008598 w 4017196"/>
              <a:gd name="connsiteY2" fmla="*/ 4017196 h 4017196"/>
              <a:gd name="connsiteX3" fmla="*/ 0 w 4017196"/>
              <a:gd name="connsiteY3" fmla="*/ 2008598 h 4017196"/>
              <a:gd name="connsiteX4" fmla="*/ 2008598 w 4017196"/>
              <a:gd name="connsiteY4" fmla="*/ 0 h 4017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7196" h="4017196">
                <a:moveTo>
                  <a:pt x="2008598" y="0"/>
                </a:moveTo>
                <a:cubicBezTo>
                  <a:pt x="3117916" y="0"/>
                  <a:pt x="4017196" y="899280"/>
                  <a:pt x="4017196" y="2008598"/>
                </a:cubicBezTo>
                <a:cubicBezTo>
                  <a:pt x="4017196" y="3117916"/>
                  <a:pt x="3117916" y="4017196"/>
                  <a:pt x="2008598" y="4017196"/>
                </a:cubicBezTo>
                <a:cubicBezTo>
                  <a:pt x="899280" y="4017196"/>
                  <a:pt x="0" y="3117916"/>
                  <a:pt x="0" y="2008598"/>
                </a:cubicBezTo>
                <a:cubicBezTo>
                  <a:pt x="0" y="899280"/>
                  <a:pt x="899280" y="0"/>
                  <a:pt x="2008598" y="0"/>
                </a:cubicBezTo>
                <a:close/>
              </a:path>
            </a:pathLst>
          </a:custGeom>
        </p:spPr>
      </p:pic>
      <p:pic>
        <p:nvPicPr>
          <p:cNvPr id="5" name="Picture 2" descr="TheKenyanDev: How to Restart a Node.js App Programmatically."/>
          <p:cNvPicPr>
            <a:picLocks noGrp="1" noChangeAspect="1" noChangeArrowheads="1"/>
          </p:cNvPicPr>
          <p:nvPr>
            <p:ph idx="1"/>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5181600" y="1330490"/>
            <a:ext cx="1828800" cy="1828800"/>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cxnSp>
        <p:nvCxnSpPr>
          <p:cNvPr id="25" name="Straight Connector 17"/>
          <p:cNvCxnSpPr>
            <a:cxnSpLocks noGrp="1" noRot="1" noChangeAspect="1" noMove="1" noResize="1" noEditPoints="1" noAdjustHandles="1" noChangeArrowheads="1" noChangeShapeType="1"/>
          </p:cNvCxnSpPr>
          <p:nvPr/>
        </p:nvCxnSpPr>
        <p:spPr>
          <a:xfrm>
            <a:off x="5775960" y="4971278"/>
            <a:ext cx="640080" cy="0"/>
          </a:xfrm>
          <a:prstGeom prst="line">
            <a:avLst/>
          </a:prstGeom>
          <a:ln w="28575">
            <a:solidFill>
              <a:srgbClr val="3EA94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As funções de middleware são funções que têm acesso ao objeto de solicitação (req), ao objeto de resposta (res) e à próxima função de middleware no ciclo de solicitação-resposta do aplicativo. Essas funções são usadas para modificar objetos req e res para tarefas como análise de corpos de solicitação, adição de cabeçalhos de resposta, verificações de estados  e outros</a:t>
            </a:r>
          </a:p>
        </p:txBody>
      </p:sp>
      <p:sp>
        <p:nvSpPr>
          <p:cNvPr id="13" name="Espaço Reservado para Conteúdo 2"/>
          <p:cNvSpPr txBox="1"/>
          <p:nvPr/>
        </p:nvSpPr>
        <p:spPr>
          <a:xfrm>
            <a:off x="5838264" y="514015"/>
            <a:ext cx="5086715" cy="564077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pt-PT" altLang="pt-BR" sz="1800" b="1" dirty="0">
                <a:latin typeface="Ubuntu Thin" panose="020B0304030602030204" charset="0"/>
                <a:cs typeface="Ubuntu Thin" panose="020B0304030602030204" charset="0"/>
              </a:rPr>
              <a:t>Um middlewarer é chamado a cada solicitação da sua aplicação.</a:t>
            </a:r>
          </a:p>
          <a:p>
            <a:pPr marL="0" indent="0" algn="just">
              <a:lnSpc>
                <a:spcPct val="150000"/>
              </a:lnSpc>
              <a:buNone/>
            </a:pPr>
            <a:r>
              <a:rPr lang="pt-PT" altLang="pt-BR" sz="1800" b="1" dirty="0">
                <a:latin typeface="Ubuntu Thin" panose="020B0304030602030204" charset="0"/>
                <a:cs typeface="Ubuntu Thin" panose="020B0304030602030204" charset="0"/>
              </a:rPr>
              <a:t>Portato você terá uma checagem todas as vezes que uma rota for solicitada.</a:t>
            </a:r>
          </a:p>
          <a:p>
            <a:pPr marL="0" indent="0" algn="just">
              <a:lnSpc>
                <a:spcPct val="150000"/>
              </a:lnSpc>
              <a:buNone/>
            </a:pPr>
            <a:endParaRPr lang="pt-PT" altLang="pt-BR" sz="1800" b="1" dirty="0">
              <a:latin typeface="Ubuntu Thin" panose="020B0304030602030204" charset="0"/>
              <a:cs typeface="Ubuntu Thin" panose="020B0304030602030204" charset="0"/>
            </a:endParaRPr>
          </a:p>
          <a:p>
            <a:pPr marL="0" indent="0" algn="just">
              <a:lnSpc>
                <a:spcPct val="150000"/>
              </a:lnSpc>
              <a:buNone/>
            </a:pPr>
            <a:r>
              <a:rPr lang="pt-PT" altLang="pt-BR" sz="1800" b="1" dirty="0">
                <a:latin typeface="Ubuntu Thin" panose="020B0304030602030204" charset="0"/>
                <a:cs typeface="Ubuntu Thin" panose="020B0304030602030204" charset="0"/>
              </a:rPr>
              <a:t>Vejamos um exemplo em nosso projeto.</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Você pode aplicar um middleware de forma global ou fazendo uma aplicação diretamente na rota que deseja.</a:t>
            </a:r>
          </a:p>
          <a:p>
            <a:pPr marL="0" indent="0">
              <a:lnSpc>
                <a:spcPct val="150000"/>
              </a:lnSpc>
              <a:buNone/>
            </a:pPr>
            <a:r>
              <a:rPr lang="pt-PT" altLang="pt-BR" sz="1800" b="1" dirty="0">
                <a:latin typeface="Ubuntu Thin" panose="020B0304030602030204" charset="0"/>
                <a:cs typeface="Ubuntu Thin" panose="020B0304030602030204" charset="0"/>
              </a:rPr>
              <a:t>Vamos inserir um middleware global em nossa aplicação e criar mais algumas rotas.</a:t>
            </a:r>
          </a:p>
          <a:p>
            <a:pPr marL="0" indent="0">
              <a:lnSpc>
                <a:spcPct val="150000"/>
              </a:lnSpc>
              <a:buNone/>
            </a:pPr>
            <a:endParaRPr lang="pt-PT" altLang="pt-BR" sz="1800" b="1" dirty="0">
              <a:latin typeface="Ubuntu Thin" panose="020B0304030602030204" charset="0"/>
              <a:cs typeface="Ubuntu Thin" panose="020B0304030602030204" charset="0"/>
            </a:endParaRPr>
          </a:p>
          <a:p>
            <a:pPr marL="0" indent="0">
              <a:lnSpc>
                <a:spcPct val="150000"/>
              </a:lnSpc>
              <a:buNone/>
            </a:pPr>
            <a:r>
              <a:rPr lang="pt-PT" altLang="pt-BR" sz="1800" b="1" dirty="0">
                <a:latin typeface="Ubuntu Thin" panose="020B0304030602030204" charset="0"/>
                <a:cs typeface="Ubuntu Thin" panose="020B0304030602030204" charset="0"/>
              </a:rPr>
              <a:t>Veja o resultado</a:t>
            </a:r>
          </a:p>
        </p:txBody>
      </p:sp>
      <p:pic>
        <p:nvPicPr>
          <p:cNvPr id="4" name="Picture 3"/>
          <p:cNvPicPr>
            <a:picLocks noChangeAspect="1"/>
          </p:cNvPicPr>
          <p:nvPr/>
        </p:nvPicPr>
        <p:blipFill>
          <a:blip r:embed="rId3"/>
          <a:stretch>
            <a:fillRect/>
          </a:stretch>
        </p:blipFill>
        <p:spPr>
          <a:xfrm>
            <a:off x="5720080" y="772795"/>
            <a:ext cx="5963285" cy="519112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2736215"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Vamos testar e veja o resultado</a:t>
            </a:r>
          </a:p>
        </p:txBody>
      </p:sp>
      <p:pic>
        <p:nvPicPr>
          <p:cNvPr id="5" name="Picture 4"/>
          <p:cNvPicPr>
            <a:picLocks noChangeAspect="1"/>
          </p:cNvPicPr>
          <p:nvPr/>
        </p:nvPicPr>
        <p:blipFill>
          <a:blip r:embed="rId3"/>
          <a:stretch>
            <a:fillRect/>
          </a:stretch>
        </p:blipFill>
        <p:spPr>
          <a:xfrm>
            <a:off x="0" y="-81915"/>
            <a:ext cx="12192000" cy="693991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Vamos trabalhar com o middleware de forma direcionada, ou seja, aplicada a uma rota especifica. </a:t>
            </a:r>
          </a:p>
          <a:p>
            <a:pPr marL="0" indent="0">
              <a:lnSpc>
                <a:spcPct val="150000"/>
              </a:lnSpc>
              <a:buNone/>
            </a:pPr>
            <a:r>
              <a:rPr lang="pt-PT" altLang="pt-BR" sz="1800" b="1" dirty="0">
                <a:latin typeface="Ubuntu Thin" panose="020B0304030602030204" charset="0"/>
                <a:cs typeface="Ubuntu Thin" panose="020B0304030602030204" charset="0"/>
              </a:rPr>
              <a:t>Criaremos uma função e vamos chamar essa função dentro de nossa rota para que ela atue nesse código.</a:t>
            </a:r>
          </a:p>
          <a:p>
            <a:pPr marL="0" indent="0">
              <a:lnSpc>
                <a:spcPct val="150000"/>
              </a:lnSpc>
              <a:buNone/>
            </a:pPr>
            <a:r>
              <a:rPr lang="pt-PT" altLang="pt-BR" sz="1800" b="1" dirty="0">
                <a:latin typeface="Ubuntu Thin" panose="020B0304030602030204" charset="0"/>
                <a:cs typeface="Ubuntu Thin" panose="020B0304030602030204" charset="0"/>
              </a:rPr>
              <a:t>veja</a:t>
            </a:r>
          </a:p>
        </p:txBody>
      </p:sp>
      <p:pic>
        <p:nvPicPr>
          <p:cNvPr id="5" name="Picture 4"/>
          <p:cNvPicPr>
            <a:picLocks noChangeAspect="1"/>
          </p:cNvPicPr>
          <p:nvPr/>
        </p:nvPicPr>
        <p:blipFill>
          <a:blip r:embed="rId3"/>
          <a:stretch>
            <a:fillRect/>
          </a:stretch>
        </p:blipFill>
        <p:spPr>
          <a:xfrm>
            <a:off x="5951220" y="1426845"/>
            <a:ext cx="5478145" cy="366839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Você pode passar dados de um middleware para outro middleware usando elementos de paramentros como req e res. </a:t>
            </a:r>
          </a:p>
          <a:p>
            <a:pPr marL="0" indent="0">
              <a:lnSpc>
                <a:spcPct val="150000"/>
              </a:lnSpc>
              <a:buNone/>
            </a:pPr>
            <a:r>
              <a:rPr lang="pt-PT" altLang="pt-BR" sz="1800" b="1" dirty="0">
                <a:latin typeface="Ubuntu Thin" panose="020B0304030602030204" charset="0"/>
                <a:cs typeface="Ubuntu Thin" panose="020B0304030602030204" charset="0"/>
              </a:rPr>
              <a:t>Veja o exemplo</a:t>
            </a:r>
          </a:p>
        </p:txBody>
      </p:sp>
      <p:pic>
        <p:nvPicPr>
          <p:cNvPr id="4" name="Picture 3"/>
          <p:cNvPicPr>
            <a:picLocks noChangeAspect="1"/>
          </p:cNvPicPr>
          <p:nvPr/>
        </p:nvPicPr>
        <p:blipFill>
          <a:blip r:embed="rId3"/>
          <a:stretch>
            <a:fillRect/>
          </a:stretch>
        </p:blipFill>
        <p:spPr>
          <a:xfrm>
            <a:off x="5853430" y="4906645"/>
            <a:ext cx="5659755" cy="1256665"/>
          </a:xfrm>
          <a:prstGeom prst="rect">
            <a:avLst/>
          </a:prstGeom>
        </p:spPr>
      </p:pic>
      <p:pic>
        <p:nvPicPr>
          <p:cNvPr id="6" name="Picture 5"/>
          <p:cNvPicPr>
            <a:picLocks noChangeAspect="1"/>
          </p:cNvPicPr>
          <p:nvPr/>
        </p:nvPicPr>
        <p:blipFill>
          <a:blip r:embed="rId4"/>
          <a:stretch>
            <a:fillRect/>
          </a:stretch>
        </p:blipFill>
        <p:spPr>
          <a:xfrm>
            <a:off x="6011545" y="1083310"/>
            <a:ext cx="5008245" cy="235902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Vamos implementar uma estrutura de autenticaçãop usando Json Web Token</a:t>
            </a:r>
          </a:p>
          <a:p>
            <a:pPr marL="0" indent="0">
              <a:lnSpc>
                <a:spcPct val="150000"/>
              </a:lnSpc>
              <a:buNone/>
            </a:pPr>
            <a:r>
              <a:rPr lang="pt-PT" altLang="pt-BR" sz="1800" b="1" dirty="0">
                <a:latin typeface="Ubuntu Thin" panose="020B0304030602030204" charset="0"/>
                <a:cs typeface="Ubuntu Thin" panose="020B0304030602030204" charset="0"/>
              </a:rPr>
              <a:t>iremos fazer a instalação do jwt com o comando</a:t>
            </a:r>
          </a:p>
          <a:p>
            <a:pPr marL="0" indent="0">
              <a:lnSpc>
                <a:spcPct val="150000"/>
              </a:lnSpc>
              <a:buNone/>
            </a:pPr>
            <a:r>
              <a:rPr lang="pt-PT" altLang="pt-BR" sz="1800" b="1" dirty="0">
                <a:latin typeface="Ubuntu Thin" panose="020B0304030602030204" charset="0"/>
                <a:cs typeface="Ubuntu Thin" panose="020B0304030602030204" charset="0"/>
              </a:rPr>
              <a:t>npm install jsonwebtoken --save</a:t>
            </a:r>
          </a:p>
        </p:txBody>
      </p:sp>
      <p:pic>
        <p:nvPicPr>
          <p:cNvPr id="5" name="Picture 4"/>
          <p:cNvPicPr>
            <a:picLocks noChangeAspect="1"/>
          </p:cNvPicPr>
          <p:nvPr/>
        </p:nvPicPr>
        <p:blipFill>
          <a:blip r:embed="rId3"/>
          <a:stretch>
            <a:fillRect/>
          </a:stretch>
        </p:blipFill>
        <p:spPr>
          <a:xfrm>
            <a:off x="5978525" y="855980"/>
            <a:ext cx="5558155" cy="1048385"/>
          </a:xfrm>
          <a:prstGeom prst="rect">
            <a:avLst/>
          </a:prstGeom>
        </p:spPr>
      </p:pic>
      <p:pic>
        <p:nvPicPr>
          <p:cNvPr id="7" name="Picture 6"/>
          <p:cNvPicPr>
            <a:picLocks noChangeAspect="1"/>
          </p:cNvPicPr>
          <p:nvPr/>
        </p:nvPicPr>
        <p:blipFill>
          <a:blip r:embed="rId4"/>
          <a:stretch>
            <a:fillRect/>
          </a:stretch>
        </p:blipFill>
        <p:spPr>
          <a:xfrm>
            <a:off x="5852160" y="2224405"/>
            <a:ext cx="5676900" cy="188595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Aplicação do middlware em uma rota de admin</a:t>
            </a:r>
          </a:p>
          <a:p>
            <a:pPr marL="0" indent="0">
              <a:lnSpc>
                <a:spcPct val="150000"/>
              </a:lnSpc>
              <a:buNone/>
            </a:pPr>
            <a:endParaRPr lang="pt-PT" altLang="pt-BR" sz="1800" b="1" dirty="0">
              <a:latin typeface="Ubuntu Thin" panose="020B0304030602030204" charset="0"/>
              <a:cs typeface="Ubuntu Thin" panose="020B0304030602030204" charset="0"/>
            </a:endParaRPr>
          </a:p>
          <a:p>
            <a:pPr marL="0" indent="0">
              <a:lnSpc>
                <a:spcPct val="150000"/>
              </a:lnSpc>
              <a:buNone/>
            </a:pPr>
            <a:endParaRPr lang="pt-PT" altLang="pt-BR" sz="1800" b="1" dirty="0">
              <a:latin typeface="Ubuntu Thin" panose="020B0304030602030204" charset="0"/>
              <a:cs typeface="Ubuntu Thin" panose="020B0304030602030204" charset="0"/>
            </a:endParaRPr>
          </a:p>
        </p:txBody>
      </p:sp>
      <p:pic>
        <p:nvPicPr>
          <p:cNvPr id="4" name="Picture 3"/>
          <p:cNvPicPr>
            <a:picLocks noChangeAspect="1"/>
          </p:cNvPicPr>
          <p:nvPr/>
        </p:nvPicPr>
        <p:blipFill>
          <a:blip r:embed="rId3"/>
          <a:stretch>
            <a:fillRect/>
          </a:stretch>
        </p:blipFill>
        <p:spPr>
          <a:xfrm>
            <a:off x="5702300" y="2560320"/>
            <a:ext cx="5993130" cy="83693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Agora vamos fazer algumas simulações onde ha um cadastro de usuário e sua autenticação</a:t>
            </a:r>
          </a:p>
          <a:p>
            <a:pPr marL="0" indent="0">
              <a:lnSpc>
                <a:spcPct val="150000"/>
              </a:lnSpc>
              <a:buNone/>
            </a:pPr>
            <a:endParaRPr lang="pt-PT" altLang="pt-BR" sz="1800" b="1" dirty="0">
              <a:latin typeface="Ubuntu Thin" panose="020B0304030602030204" charset="0"/>
              <a:cs typeface="Ubuntu Thin" panose="020B0304030602030204" charset="0"/>
            </a:endParaRPr>
          </a:p>
        </p:txBody>
      </p:sp>
      <p:pic>
        <p:nvPicPr>
          <p:cNvPr id="5" name="Picture 4"/>
          <p:cNvPicPr>
            <a:picLocks noChangeAspect="1"/>
          </p:cNvPicPr>
          <p:nvPr/>
        </p:nvPicPr>
        <p:blipFill>
          <a:blip r:embed="rId3"/>
          <a:stretch>
            <a:fillRect/>
          </a:stretch>
        </p:blipFill>
        <p:spPr>
          <a:xfrm>
            <a:off x="5901055" y="2487930"/>
            <a:ext cx="5405755" cy="188150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p:cNvSpPr>
            <a:spLocks noGrp="1" noRot="1" noChangeAspect="1" noMove="1" noResize="1" noEditPoints="1" noAdjustHandles="1" noChangeArrowheads="1" noChangeShapeType="1" noTextEdit="1"/>
          </p:cNvSpPr>
          <p:nvPr/>
        </p:nvSpPr>
        <p:spPr>
          <a:xfrm>
            <a:off x="0" y="254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89560" y="856180"/>
            <a:ext cx="4560584" cy="1128068"/>
          </a:xfrm>
        </p:spPr>
        <p:txBody>
          <a:bodyPr anchor="ctr">
            <a:normAutofit/>
          </a:bodyPr>
          <a:lstStyle/>
          <a:p>
            <a:r>
              <a:rPr lang="pt-BR" sz="4000" dirty="0"/>
              <a:t>Node JS</a:t>
            </a:r>
          </a:p>
        </p:txBody>
      </p:sp>
      <p:grpSp>
        <p:nvGrpSpPr>
          <p:cNvPr id="2053" name="Group 72"/>
          <p:cNvGrpSpPr>
            <a:grpSpLocks noGrp="1" noUngrp="1" noRot="1" noChangeAspect="1" noMove="1" noResize="1"/>
          </p:cNvGrpSpPr>
          <p:nvPr/>
        </p:nvGrpSpPr>
        <p:grpSpPr>
          <a:xfrm>
            <a:off x="0" y="1083484"/>
            <a:ext cx="355196" cy="673460"/>
            <a:chOff x="0" y="823811"/>
            <a:chExt cx="355196" cy="673460"/>
          </a:xfrm>
        </p:grpSpPr>
        <p:sp>
          <p:nvSpPr>
            <p:cNvPr id="74" name="Rectangle 73"/>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Rectangle 74"/>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p:cNvSpPr>
            <a:spLocks noGrp="1" noRot="1" noChangeAspect="1" noMove="1" noResize="1" noEditPoints="1" noAdjustHandles="1" noChangeArrowheads="1" noChangeShapeType="1" noTextEdit="1"/>
          </p:cNvSpPr>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a:spLocks noGrp="1" noRot="1" noChangeAspect="1" noMove="1" noResize="1" noEditPoints="1" noAdjustHandles="1" noChangeArrowheads="1" noChangeShapeType="1" noTextEdit="1"/>
          </p:cNvSpPr>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KenyanDev: How to Restart a Node.js App Programmaticall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062" r="1" b="1"/>
          <a:stretch>
            <a:fillRect/>
          </a:stretch>
        </p:blipFill>
        <p:spPr bwMode="auto">
          <a:xfrm>
            <a:off x="10924974" y="6163210"/>
            <a:ext cx="1039722" cy="1007888"/>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p:cNvSpPr>
            <a:spLocks noGrp="1"/>
          </p:cNvSpPr>
          <p:nvPr>
            <p:ph idx="1"/>
          </p:nvPr>
        </p:nvSpPr>
        <p:spPr>
          <a:xfrm>
            <a:off x="427990" y="2224405"/>
            <a:ext cx="5030470" cy="4487545"/>
          </a:xfrm>
        </p:spPr>
        <p:txBody>
          <a:bodyPr anchor="ctr">
            <a:normAutofit/>
          </a:bodyPr>
          <a:lstStyle/>
          <a:p>
            <a:pPr marL="0" indent="0">
              <a:lnSpc>
                <a:spcPct val="150000"/>
              </a:lnSpc>
              <a:buNone/>
            </a:pPr>
            <a:r>
              <a:rPr lang="pt-PT" altLang="pt-BR" sz="1800" b="1" dirty="0">
                <a:latin typeface="Ubuntu Thin" panose="020B0304030602030204" charset="0"/>
                <a:cs typeface="Ubuntu Thin" panose="020B0304030602030204" charset="0"/>
              </a:rPr>
              <a:t>Agora é só testar a aplicação.</a:t>
            </a:r>
          </a:p>
        </p:txBody>
      </p:sp>
      <p:pic>
        <p:nvPicPr>
          <p:cNvPr id="5" name="Picture 4"/>
          <p:cNvPicPr>
            <a:picLocks noChangeAspect="1"/>
          </p:cNvPicPr>
          <p:nvPr/>
        </p:nvPicPr>
        <p:blipFill>
          <a:blip r:embed="rId3"/>
          <a:stretch>
            <a:fillRect/>
          </a:stretch>
        </p:blipFill>
        <p:spPr>
          <a:xfrm>
            <a:off x="5901055" y="2487930"/>
            <a:ext cx="5405755" cy="188150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36181" y="2296903"/>
            <a:ext cx="5462546" cy="2307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181B349CD2D8747817B5F5CFBCEECF2" ma:contentTypeVersion="7" ma:contentTypeDescription="Crie um novo documento." ma:contentTypeScope="" ma:versionID="5bfbed05ecf830f5ef56454c5d533ba0">
  <xsd:schema xmlns:xsd="http://www.w3.org/2001/XMLSchema" xmlns:xs="http://www.w3.org/2001/XMLSchema" xmlns:p="http://schemas.microsoft.com/office/2006/metadata/properties" xmlns:ns2="46502939-348e-4b84-a209-52a663b84431" targetNamespace="http://schemas.microsoft.com/office/2006/metadata/properties" ma:root="true" ma:fieldsID="650bee137ef06169dbc197c8bfe0aaed" ns2:_="">
    <xsd:import namespace="46502939-348e-4b84-a209-52a663b8443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502939-348e-4b84-a209-52a663b844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0C74128-A9BB-46E8-9466-CAEBA2B576E2}"/>
</file>

<file path=customXml/itemProps2.xml><?xml version="1.0" encoding="utf-8"?>
<ds:datastoreItem xmlns:ds="http://schemas.openxmlformats.org/officeDocument/2006/customXml" ds:itemID="{CFA6F973-3334-4F15-BB0D-00084E535FC3}"/>
</file>

<file path=customXml/itemProps3.xml><?xml version="1.0" encoding="utf-8"?>
<ds:datastoreItem xmlns:ds="http://schemas.openxmlformats.org/officeDocument/2006/customXml" ds:itemID="{496D7B85-A423-4D0C-ADB5-126834C36EE3}"/>
</file>

<file path=docProps/app.xml><?xml version="1.0" encoding="utf-8"?>
<Properties xmlns="http://schemas.openxmlformats.org/officeDocument/2006/extended-properties" xmlns:vt="http://schemas.openxmlformats.org/officeDocument/2006/docPropsVTypes">
  <TotalTime>0</TotalTime>
  <Words>3286</Words>
  <Application>Microsoft Office PowerPoint</Application>
  <PresentationFormat>Widescreen</PresentationFormat>
  <Paragraphs>304</Paragraphs>
  <Slides>57</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57</vt:i4>
      </vt:variant>
    </vt:vector>
  </HeadingPairs>
  <TitlesOfParts>
    <vt:vector size="62" baseType="lpstr">
      <vt:lpstr>Arial</vt:lpstr>
      <vt:lpstr>Calibri</vt:lpstr>
      <vt:lpstr>Calibri Light</vt:lpstr>
      <vt:lpstr>Ubuntu Thin</vt:lpstr>
      <vt:lpstr>Tema do Office</vt:lpstr>
      <vt:lpstr>Apresentação do PowerPoint</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Node JS</vt:lpstr>
      <vt:lpstr>Vamos criar um projeto em node</vt:lpstr>
      <vt:lpstr>Vamos criar um projeto em node</vt:lpstr>
      <vt:lpstr>Node JS</vt:lpstr>
      <vt:lpstr>Node JS</vt:lpstr>
      <vt:lpstr>Node JS</vt:lpstr>
      <vt:lpstr>Node JS</vt:lpstr>
      <vt:lpstr>Node JS</vt:lpstr>
      <vt:lpstr>Node JS</vt:lpstr>
      <vt:lpstr>Node JS</vt:lpstr>
      <vt:lpstr>Node JS</vt:lpstr>
      <vt:lpstr>Node JS</vt:lpstr>
      <vt:lpstr>Usando módulos Express e outros</vt:lpstr>
      <vt:lpstr>Usando módulos Express e outros</vt:lpstr>
      <vt:lpstr>Node JS</vt:lpstr>
      <vt:lpstr>Node JS</vt:lpstr>
      <vt:lpstr>Node JS</vt:lpstr>
      <vt:lpstr>Middlewares</vt:lpstr>
      <vt:lpstr>Node JS</vt:lpstr>
      <vt:lpstr>Node JS</vt:lpstr>
      <vt:lpstr>Node JS</vt:lpstr>
      <vt:lpstr>Node JS</vt:lpstr>
      <vt:lpstr>Node JS</vt:lpstr>
      <vt:lpstr>Node JS</vt:lpstr>
      <vt:lpstr>Node JS</vt:lpstr>
      <vt:lpstr>Node JS</vt:lpstr>
      <vt:lpstr>Node JS</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Edilson Jesus Da Silva</dc:creator>
  <cp:lastModifiedBy>Edilson Jesus Da Silva</cp:lastModifiedBy>
  <cp:revision>30</cp:revision>
  <dcterms:created xsi:type="dcterms:W3CDTF">2020-12-04T21:30:41Z</dcterms:created>
  <dcterms:modified xsi:type="dcterms:W3CDTF">2020-12-04T22:10:20Z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1033-11.1.0.9719</vt:lpwstr>
  </property>
  <property fmtid="{D5CDD505-2E9C-101B-9397-08002B2CF9AE}" pid="3" name="ContentTypeId">
    <vt:lpwstr>0x0101002181B349CD2D8747817B5F5CFBCEECF2</vt:lpwstr>
  </property>
</Properties>
</file>